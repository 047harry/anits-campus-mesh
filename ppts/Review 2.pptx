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8"/>
    <p:sldId id="269" r:id="rId19"/>
    <p:sldId id="270" r:id="rId20"/>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35" autoAdjust="0"/>
    <p:restoredTop sz="94660"/>
  </p:normalViewPr>
  <p:slideViewPr>
    <p:cSldViewPr snapToGrid="0" snapToObjects="1">
      <p:cViewPr varScale="1">
        <p:scale>
          <a:sx n="84" d="100"/>
          <a:sy n="84" d="100"/>
        </p:scale>
        <p:origin x="77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9-08T14:57:55.661"/>
    </inkml:context>
    <inkml:brush xml:id="br0">
      <inkml:brushProperty name="width" value="0.05292" units="cm"/>
      <inkml:brushProperty name="height" value="0.05292" units="cm"/>
      <inkml:brushProperty name="color" value="#FF0000"/>
    </inkml:brush>
  </inkml:definitions>
  <inkml:trace contextRef="#ctx0" brushRef="#br0">13458 10548 0,'0'0'0,"0"-71"125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ustomXml" Target="../ink/ink1.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09/HealthCom60970.2024.10880764" TargetMode="External"/><Relationship Id="rId3" Type="http://schemas.openxmlformats.org/officeDocument/2006/relationships/hyperlink" Target="https://doi.org/10.1109/ACCESS.2021.3136927" TargetMode="External"/><Relationship Id="rId4" Type="http://schemas.openxmlformats.org/officeDocument/2006/relationships/hyperlink" Target="https://doi.org/10.1109/JIOT.2018.2886361" TargetMode="External"/><Relationship Id="rId5" Type="http://schemas.openxmlformats.org/officeDocument/2006/relationships/hyperlink" Target="https://doi.org/10.1109/ACCESS.2018.287232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Picture 1.png"/>
          <p:cNvPicPr>
            <a:picLocks noChangeAspect="1"/>
          </p:cNvPicPr>
          <p:nvPr/>
        </p:nvPicPr>
        <p:blipFill>
          <a:blip r:embed="rId2"/>
          <a:stretch>
            <a:fillRect/>
          </a:stretch>
        </p:blipFill>
        <p:spPr>
          <a:xfrm>
            <a:off x="731520" y="502920"/>
            <a:ext cx="1234440" cy="1234440"/>
          </a:xfrm>
          <a:prstGeom prst="rect">
            <a:avLst/>
          </a:prstGeom>
        </p:spPr>
      </p:pic>
      <p:sp>
        <p:nvSpPr>
          <p:cNvPr id="6" name="Rectangle 5"/>
          <p:cNvSpPr/>
          <p:nvPr/>
        </p:nvSpPr>
        <p:spPr>
          <a:xfrm>
            <a:off x="731520" y="1874519"/>
            <a:ext cx="10728655"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48840"/>
            <a:ext cx="10963656" cy="1118255"/>
          </a:xfrm>
          <a:prstGeom prst="rect">
            <a:avLst/>
          </a:prstGeom>
          <a:noFill/>
        </p:spPr>
        <p:txBody>
          <a:bodyPr wrap="square" lIns="0" tIns="0">
            <a:spAutoFit/>
          </a:bodyPr>
          <a:lstStyle/>
          <a:p>
            <a:r>
              <a:rPr sz="1300" b="1" dirty="0">
                <a:solidFill>
                  <a:srgbClr val="D96B43"/>
                </a:solidFill>
                <a:latin typeface="Arial"/>
              </a:rPr>
              <a:t>| CAPSTONE PROJECT REVIEW — PHASE 1</a:t>
            </a:r>
          </a:p>
          <a:p>
            <a:pPr>
              <a:spcBef>
                <a:spcPts val="1400"/>
              </a:spcBef>
            </a:pPr>
            <a:r>
              <a:rPr sz="2000" b="1" dirty="0">
                <a:solidFill>
                  <a:srgbClr val="1A1A1A"/>
                </a:solidFill>
                <a:latin typeface="Arial"/>
              </a:rPr>
              <a:t>DECENTRALIZED OFFLINE-FIRST CAMPUS MESH NETWORK</a:t>
            </a:r>
          </a:p>
          <a:p>
            <a:pPr>
              <a:spcBef>
                <a:spcPts val="1200"/>
              </a:spcBef>
            </a:pPr>
            <a:r>
              <a:rPr sz="1500" b="1" dirty="0">
                <a:solidFill>
                  <a:srgbClr val="475569"/>
                </a:solidFill>
                <a:latin typeface="Arial"/>
              </a:rPr>
              <a:t>A Disaster-Resilient Peer-to-Peer Communication Architecture with Hybrid Cryptographic Trust and Role-Based QoS</a:t>
            </a:r>
          </a:p>
        </p:txBody>
      </p:sp>
      <p:sp>
        <p:nvSpPr>
          <p:cNvPr id="8" name="Rounded Rectangle 7"/>
          <p:cNvSpPr/>
          <p:nvPr/>
        </p:nvSpPr>
        <p:spPr>
          <a:xfrm>
            <a:off x="682748" y="3788948"/>
            <a:ext cx="3867837" cy="2734875"/>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r>
              <a:rPr sz="1200" b="1" dirty="0">
                <a:solidFill>
                  <a:srgbClr val="D96B43"/>
                </a:solidFill>
                <a:latin typeface="Arial"/>
              </a:rPr>
              <a:t>PROJECT </a:t>
            </a:r>
            <a:r>
              <a:rPr lang="en-US" sz="1200" b="1" dirty="0">
                <a:solidFill>
                  <a:srgbClr val="D96B43"/>
                </a:solidFill>
                <a:latin typeface="Arial"/>
              </a:rPr>
              <a:t>MEMBERS</a:t>
            </a:r>
            <a:endParaRPr sz="1200" b="1" dirty="0">
              <a:solidFill>
                <a:srgbClr val="D96B43"/>
              </a:solidFill>
              <a:latin typeface="Arial"/>
            </a:endParaRPr>
          </a:p>
          <a:p>
            <a:pPr>
              <a:spcBef>
                <a:spcPts val="800"/>
              </a:spcBef>
            </a:pPr>
            <a:r>
              <a:rPr sz="1400" b="1" dirty="0">
                <a:solidFill>
                  <a:srgbClr val="1A1A1A"/>
                </a:solidFill>
                <a:latin typeface="Arial"/>
              </a:rPr>
              <a:t>Presented By Team 12:</a:t>
            </a:r>
          </a:p>
          <a:p>
            <a:pPr>
              <a:spcBef>
                <a:spcPts val="300"/>
              </a:spcBef>
            </a:pPr>
            <a:r>
              <a:rPr sz="1250" b="1" dirty="0">
                <a:solidFill>
                  <a:srgbClr val="1A1A1A"/>
                </a:solidFill>
                <a:latin typeface="Arial"/>
              </a:rPr>
              <a:t>-  </a:t>
            </a:r>
            <a:r>
              <a:rPr sz="1250" b="1" dirty="0" err="1">
                <a:solidFill>
                  <a:srgbClr val="1A1A1A"/>
                </a:solidFill>
                <a:latin typeface="Arial"/>
              </a:rPr>
              <a:t>Darakesu</a:t>
            </a:r>
            <a:r>
              <a:rPr sz="1250" b="1" dirty="0">
                <a:solidFill>
                  <a:srgbClr val="1A1A1A"/>
                </a:solidFill>
                <a:latin typeface="Arial"/>
              </a:rPr>
              <a:t> </a:t>
            </a:r>
            <a:r>
              <a:rPr sz="1250" b="1">
                <a:solidFill>
                  <a:srgbClr val="1A1A1A"/>
                </a:solidFill>
                <a:latin typeface="Arial"/>
              </a:rPr>
              <a:t>Hemanth </a:t>
            </a:r>
            <a:r>
              <a:rPr lang="en-US" sz="1250" b="1">
                <a:solidFill>
                  <a:srgbClr val="1A1A1A"/>
                </a:solidFill>
                <a:latin typeface="Arial"/>
              </a:rPr>
              <a:t>P</a:t>
            </a:r>
            <a:r>
              <a:rPr sz="1250" b="1">
                <a:solidFill>
                  <a:srgbClr val="1A1A1A"/>
                </a:solidFill>
                <a:latin typeface="Arial"/>
              </a:rPr>
              <a:t>(</a:t>
            </a:r>
            <a:r>
              <a:rPr sz="1250" b="1" dirty="0">
                <a:solidFill>
                  <a:srgbClr val="1A1A1A"/>
                </a:solidFill>
                <a:latin typeface="Arial"/>
              </a:rPr>
              <a:t>Lead)
</a:t>
            </a:r>
            <a:r>
              <a:rPr sz="1100" dirty="0">
                <a:solidFill>
                  <a:srgbClr val="475569"/>
                </a:solidFill>
                <a:latin typeface="Arial"/>
              </a:rPr>
              <a:t>    Reg No: A23126551113</a:t>
            </a:r>
          </a:p>
          <a:p>
            <a:pPr>
              <a:spcBef>
                <a:spcPts val="300"/>
              </a:spcBef>
            </a:pPr>
            <a:r>
              <a:rPr sz="1250" b="1" dirty="0">
                <a:solidFill>
                  <a:srgbClr val="1A1A1A"/>
                </a:solidFill>
                <a:latin typeface="Arial"/>
              </a:rPr>
              <a:t>-  Ruthvik Katcha
</a:t>
            </a:r>
            <a:r>
              <a:rPr sz="1100" dirty="0">
                <a:solidFill>
                  <a:srgbClr val="475569"/>
                </a:solidFill>
                <a:latin typeface="Arial"/>
              </a:rPr>
              <a:t>    Reg No: A23126551119</a:t>
            </a:r>
          </a:p>
          <a:p>
            <a:pPr>
              <a:spcBef>
                <a:spcPts val="300"/>
              </a:spcBef>
            </a:pPr>
            <a:r>
              <a:rPr sz="1250" b="1" dirty="0">
                <a:solidFill>
                  <a:srgbClr val="1A1A1A"/>
                </a:solidFill>
                <a:latin typeface="Arial"/>
              </a:rPr>
              <a:t>-  Kusa Madhuri
</a:t>
            </a:r>
            <a:r>
              <a:rPr sz="1100" dirty="0">
                <a:solidFill>
                  <a:srgbClr val="475569"/>
                </a:solidFill>
                <a:latin typeface="Arial"/>
              </a:rPr>
              <a:t>    Reg No: A23126551098</a:t>
            </a:r>
          </a:p>
          <a:p>
            <a:pPr>
              <a:spcBef>
                <a:spcPts val="300"/>
              </a:spcBef>
            </a:pPr>
            <a:r>
              <a:rPr sz="1250" b="1" dirty="0">
                <a:solidFill>
                  <a:srgbClr val="1A1A1A"/>
                </a:solidFill>
                <a:latin typeface="Arial"/>
              </a:rPr>
              <a:t>-  </a:t>
            </a:r>
            <a:r>
              <a:rPr sz="1250" b="1" dirty="0" err="1">
                <a:solidFill>
                  <a:srgbClr val="1A1A1A"/>
                </a:solidFill>
                <a:latin typeface="Arial"/>
              </a:rPr>
              <a:t>Garbhapu</a:t>
            </a:r>
            <a:r>
              <a:rPr sz="1250" b="1" dirty="0">
                <a:solidFill>
                  <a:srgbClr val="1A1A1A"/>
                </a:solidFill>
                <a:latin typeface="Arial"/>
              </a:rPr>
              <a:t> Sirisha
</a:t>
            </a:r>
            <a:r>
              <a:rPr sz="1100" dirty="0">
                <a:solidFill>
                  <a:srgbClr val="475569"/>
                </a:solidFill>
                <a:latin typeface="Arial"/>
              </a:rPr>
              <a:t>    Reg No: A23126551084</a:t>
            </a:r>
          </a:p>
        </p:txBody>
      </p:sp>
      <p:sp>
        <p:nvSpPr>
          <p:cNvPr id="10" name="TextBox 4">
            <a:extLst>
              <a:ext uri="{FF2B5EF4-FFF2-40B4-BE49-F238E27FC236}">
                <a16:creationId xmlns:a16="http://schemas.microsoft.com/office/drawing/2014/main" id="{71321EF1-5CFF-2DAF-5D7B-FD7A22E89705}"/>
              </a:ext>
            </a:extLst>
          </p:cNvPr>
          <p:cNvSpPr txBox="1"/>
          <p:nvPr/>
        </p:nvSpPr>
        <p:spPr>
          <a:xfrm>
            <a:off x="2112263" y="590334"/>
            <a:ext cx="8988553" cy="1046440"/>
          </a:xfrm>
          <a:prstGeom prst="rect">
            <a:avLst/>
          </a:prstGeom>
          <a:noFill/>
        </p:spPr>
        <p:txBody>
          <a:bodyPr wrap="square" rtlCol="0">
            <a:spAutoFit/>
          </a:bodyPr>
          <a:lstStyle/>
          <a:p>
            <a:pPr algn="ctr"/>
            <a:r>
              <a:rPr lang="en-IN" sz="1900" b="1" dirty="0">
                <a:latin typeface="Times New Roman" panose="02020603050405020304" pitchFamily="18" charset="0"/>
                <a:cs typeface="Times New Roman" panose="02020603050405020304" pitchFamily="18" charset="0"/>
              </a:rPr>
              <a:t> ANIL NEERUKONDA INSTITUTE OF TECHNOLOGY AND SCIENCES (A)</a:t>
            </a:r>
          </a:p>
          <a:p>
            <a:pPr algn="ctr"/>
            <a:r>
              <a:rPr lang="en-IN" sz="1900" b="1" dirty="0">
                <a:latin typeface="Times New Roman" panose="02020603050405020304" pitchFamily="18" charset="0"/>
                <a:cs typeface="Times New Roman" panose="02020603050405020304" pitchFamily="18" charset="0"/>
              </a:rPr>
              <a:t>(Permanent Affiliation by Andhra University &amp; Approved by AICTE)</a:t>
            </a:r>
          </a:p>
          <a:p>
            <a:pPr algn="ctr"/>
            <a:r>
              <a:rPr lang="en-IN" sz="1200" dirty="0">
                <a:latin typeface="Times New Roman" panose="02020603050405020304" pitchFamily="18" charset="0"/>
                <a:cs typeface="Times New Roman" panose="02020603050405020304" pitchFamily="18" charset="0"/>
              </a:rPr>
              <a:t>Affiliated to AU, Approved by AICTE &amp; Accredited by NAAC with A+ Grade, Accredited by NBA (B.Tech – ECE, EEE, CSE, IT, MECH, Civil &amp; Chemical) Sangivalasa-531 162, Bheemunipatnam Mandal, Visakhapatnam District </a:t>
            </a:r>
          </a:p>
        </p:txBody>
      </p:sp>
      <p:sp>
        <p:nvSpPr>
          <p:cNvPr id="14" name="TextBox 13">
            <a:extLst>
              <a:ext uri="{FF2B5EF4-FFF2-40B4-BE49-F238E27FC236}">
                <a16:creationId xmlns:a16="http://schemas.microsoft.com/office/drawing/2014/main" id="{59220804-45B1-F7EB-C733-EB2D588C5ED8}"/>
              </a:ext>
            </a:extLst>
          </p:cNvPr>
          <p:cNvSpPr txBox="1"/>
          <p:nvPr/>
        </p:nvSpPr>
        <p:spPr>
          <a:xfrm>
            <a:off x="731520" y="3374133"/>
            <a:ext cx="2017697" cy="307777"/>
          </a:xfrm>
          <a:prstGeom prst="rect">
            <a:avLst/>
          </a:prstGeom>
          <a:noFill/>
        </p:spPr>
        <p:txBody>
          <a:bodyPr wrap="square" lIns="0" tIns="0">
            <a:spAutoFit/>
          </a:bodyPr>
          <a:lstStyle/>
          <a:p>
            <a:r>
              <a:rPr lang="en-US" sz="1700" b="1" dirty="0">
                <a:solidFill>
                  <a:srgbClr val="D96B43"/>
                </a:solidFill>
                <a:latin typeface="Arial"/>
              </a:rPr>
              <a:t>TEAM - 12 CSD-B</a:t>
            </a:r>
            <a:endParaRPr sz="1700" b="1" dirty="0">
              <a:solidFill>
                <a:srgbClr val="D96B43"/>
              </a:solidFill>
              <a:latin typeface="Arial"/>
            </a:endParaRPr>
          </a:p>
        </p:txBody>
      </p:sp>
      <p:sp>
        <p:nvSpPr>
          <p:cNvPr id="16" name="Rounded Rectangle 7">
            <a:extLst>
              <a:ext uri="{FF2B5EF4-FFF2-40B4-BE49-F238E27FC236}">
                <a16:creationId xmlns:a16="http://schemas.microsoft.com/office/drawing/2014/main" id="{57EB6E95-EA87-E089-4219-B5297A31CFD3}"/>
              </a:ext>
            </a:extLst>
          </p:cNvPr>
          <p:cNvSpPr/>
          <p:nvPr/>
        </p:nvSpPr>
        <p:spPr>
          <a:xfrm>
            <a:off x="7955280" y="5554559"/>
            <a:ext cx="3504895" cy="969264"/>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r>
              <a:rPr sz="1300" b="1" dirty="0">
                <a:solidFill>
                  <a:srgbClr val="D96B43"/>
                </a:solidFill>
                <a:latin typeface="Arial"/>
              </a:rPr>
              <a:t>Under the Guidance of:</a:t>
            </a:r>
          </a:p>
          <a:p>
            <a:pPr>
              <a:spcBef>
                <a:spcPts val="200"/>
              </a:spcBef>
            </a:pPr>
            <a:r>
              <a:rPr sz="1300" b="1" dirty="0">
                <a:solidFill>
                  <a:srgbClr val="1A1A1A"/>
                </a:solidFill>
                <a:latin typeface="Arial"/>
              </a:rPr>
              <a:t>Mrs. A. Bhagya Lakshmi
</a:t>
            </a:r>
            <a:r>
              <a:rPr sz="1100" dirty="0">
                <a:solidFill>
                  <a:srgbClr val="475569"/>
                </a:solidFill>
                <a:latin typeface="Arial"/>
              </a:rPr>
              <a:t>Assistant Professor, Dept. of CS</a:t>
            </a:r>
            <a:r>
              <a:rPr lang="en-US" sz="1100" dirty="0">
                <a:solidFill>
                  <a:srgbClr val="475569"/>
                </a:solidFill>
                <a:latin typeface="Arial"/>
              </a:rPr>
              <a:t>D</a:t>
            </a:r>
            <a:endParaRPr sz="1100" dirty="0">
              <a:solidFill>
                <a:srgbClr val="47556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AGENDA &amp; PRESENTATION OUTLINE</a:t>
            </a:r>
          </a:p>
          <a:p>
            <a:pPr>
              <a:spcBef>
                <a:spcPts val="300"/>
              </a:spcBef>
            </a:pPr>
            <a:r>
              <a:rPr sz="2600" b="1">
                <a:solidFill>
                  <a:srgbClr val="1A1A1A"/>
                </a:solidFill>
                <a:latin typeface="Arial"/>
              </a:rPr>
              <a:t>TABLE OF CONTENTS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2 of 15</a:t>
            </a:r>
          </a:p>
        </p:txBody>
      </p:sp>
      <p:sp>
        <p:nvSpPr>
          <p:cNvPr id="7" name="Rounded Rectangle 6"/>
          <p:cNvSpPr/>
          <p:nvPr/>
        </p:nvSpPr>
        <p:spPr>
          <a:xfrm>
            <a:off x="731520" y="1645920"/>
            <a:ext cx="5120640" cy="4480560"/>
          </a:xfrm>
          <a:prstGeom prst="roundRect">
            <a:avLst/>
          </a:prstGeom>
          <a:solidFill>
            <a:srgbClr val="F5ECE3"/>
          </a:solidFill>
          <a:ln w="15240">
            <a:solidFill>
              <a:srgbClr val="E2D4C4"/>
            </a:solidFill>
          </a:ln>
        </p:spPr>
        <p:style>
          <a:lnRef idx="1">
            <a:schemeClr val="accent1"/>
          </a:lnRef>
          <a:fillRef idx="3">
            <a:schemeClr val="accent1"/>
          </a:fillRef>
          <a:effectRef idx="2">
            <a:schemeClr val="accent1"/>
          </a:effectRef>
          <a:fontRef idx="minor">
            <a:schemeClr val="lt1"/>
          </a:fontRef>
        </p:style>
        <p:txBody>
          <a:bodyPr wrap="square" lIns="365760" tIns="228600" rIns="274320" rtlCol="0" anchor="ctr"/>
          <a:lstStyle/>
          <a:p>
            <a:pPr algn="l"/>
            <a:r>
              <a:rPr sz="1500" b="1" dirty="0">
                <a:solidFill>
                  <a:srgbClr val="D96B43"/>
                </a:solidFill>
                <a:latin typeface="Arial"/>
              </a:rPr>
              <a:t>01.  </a:t>
            </a:r>
            <a:r>
              <a:rPr sz="1500" b="1" dirty="0">
                <a:solidFill>
                  <a:srgbClr val="1A1A1A"/>
                </a:solidFill>
                <a:latin typeface="Arial"/>
              </a:rPr>
              <a:t>ABSTRACT
</a:t>
            </a:r>
            <a:r>
              <a:rPr sz="1500" dirty="0">
                <a:solidFill>
                  <a:srgbClr val="475569"/>
                </a:solidFill>
                <a:latin typeface="Arial"/>
              </a:rPr>
              <a:t>       Academic context, motivation, and scope.</a:t>
            </a:r>
          </a:p>
          <a:p>
            <a:pPr algn="l">
              <a:spcBef>
                <a:spcPts val="1200"/>
              </a:spcBef>
            </a:pPr>
            <a:r>
              <a:rPr sz="1500" b="1" dirty="0">
                <a:solidFill>
                  <a:srgbClr val="D96B43"/>
                </a:solidFill>
                <a:latin typeface="Arial"/>
              </a:rPr>
              <a:t>02.  </a:t>
            </a:r>
            <a:r>
              <a:rPr sz="1500" b="1" dirty="0">
                <a:solidFill>
                  <a:srgbClr val="1A1A1A"/>
                </a:solidFill>
                <a:latin typeface="Arial"/>
              </a:rPr>
              <a:t>PROBLEM STATEMENT
</a:t>
            </a:r>
            <a:r>
              <a:rPr sz="1500" dirty="0">
                <a:solidFill>
                  <a:srgbClr val="475569"/>
                </a:solidFill>
                <a:latin typeface="Arial"/>
              </a:rPr>
              <a:t>       Centralized SPOF, network blackouts, and broadcast storms.</a:t>
            </a:r>
          </a:p>
          <a:p>
            <a:pPr algn="l">
              <a:spcBef>
                <a:spcPts val="1200"/>
              </a:spcBef>
            </a:pPr>
            <a:r>
              <a:rPr sz="1500" b="1" dirty="0">
                <a:solidFill>
                  <a:srgbClr val="D96B43"/>
                </a:solidFill>
                <a:latin typeface="Arial"/>
              </a:rPr>
              <a:t>03.  </a:t>
            </a:r>
            <a:r>
              <a:rPr sz="1500" b="1" dirty="0">
                <a:solidFill>
                  <a:srgbClr val="1A1A1A"/>
                </a:solidFill>
                <a:latin typeface="Arial"/>
              </a:rPr>
              <a:t>INTRODUCTION
</a:t>
            </a:r>
            <a:r>
              <a:rPr sz="1500" dirty="0">
                <a:solidFill>
                  <a:srgbClr val="475569"/>
                </a:solidFill>
                <a:latin typeface="Arial"/>
              </a:rPr>
              <a:t>       Campus dynamics, smartphone ubiquity, and offline necessity.</a:t>
            </a:r>
          </a:p>
          <a:p>
            <a:pPr algn="l">
              <a:spcBef>
                <a:spcPts val="1200"/>
              </a:spcBef>
            </a:pPr>
            <a:r>
              <a:rPr sz="1500" b="1" dirty="0">
                <a:solidFill>
                  <a:srgbClr val="D96B43"/>
                </a:solidFill>
                <a:latin typeface="Arial"/>
              </a:rPr>
              <a:t>04.  </a:t>
            </a:r>
            <a:r>
              <a:rPr sz="1500" b="1" dirty="0">
                <a:solidFill>
                  <a:srgbClr val="1A1A1A"/>
                </a:solidFill>
                <a:latin typeface="Arial"/>
              </a:rPr>
              <a:t>LITERATURE SURVEY
</a:t>
            </a:r>
            <a:r>
              <a:rPr sz="1500" dirty="0">
                <a:solidFill>
                  <a:srgbClr val="475569"/>
                </a:solidFill>
                <a:latin typeface="Arial"/>
              </a:rPr>
              <a:t>       Systematic review of peer-reviewed IEEE research (2024-2018).</a:t>
            </a:r>
          </a:p>
        </p:txBody>
      </p:sp>
      <p:sp>
        <p:nvSpPr>
          <p:cNvPr id="8" name="Rounded Rectangle 7"/>
          <p:cNvSpPr/>
          <p:nvPr/>
        </p:nvSpPr>
        <p:spPr>
          <a:xfrm>
            <a:off x="6217920" y="1645920"/>
            <a:ext cx="5212080" cy="4480560"/>
          </a:xfrm>
          <a:prstGeom prst="roundRect">
            <a:avLst/>
          </a:prstGeom>
          <a:solidFill>
            <a:srgbClr val="F5ECE3"/>
          </a:solidFill>
          <a:ln w="15240">
            <a:solidFill>
              <a:srgbClr val="E2D4C4"/>
            </a:solidFill>
          </a:ln>
        </p:spPr>
        <p:style>
          <a:lnRef idx="1">
            <a:schemeClr val="accent1"/>
          </a:lnRef>
          <a:fillRef idx="3">
            <a:schemeClr val="accent1"/>
          </a:fillRef>
          <a:effectRef idx="2">
            <a:schemeClr val="accent1"/>
          </a:effectRef>
          <a:fontRef idx="minor">
            <a:schemeClr val="lt1"/>
          </a:fontRef>
        </p:style>
        <p:txBody>
          <a:bodyPr wrap="square" lIns="365760" tIns="228600" rIns="274320" rtlCol="0" anchor="ctr"/>
          <a:lstStyle/>
          <a:p>
            <a:pPr algn="l">
              <a:spcAft>
                <a:spcPts val="400"/>
              </a:spcAft>
            </a:pPr>
            <a:r>
              <a:rPr sz="1050" b="1">
                <a:solidFill>
                  <a:srgbClr val="1A1A1A"/>
                </a:solidFill>
                <a:latin typeface="Arial"/>
              </a:rPr>
              <a:t>05.  EXISTING SYSTEM &amp; ARCHITECTURE
</a:t>
            </a:r>
            <a:r>
              <a:rPr sz="900">
                <a:solidFill>
                  <a:srgbClr val="64748B"/>
                </a:solidFill>
                <a:latin typeface="Arial"/>
              </a:rPr>
              <a:t>       Critical audit of cloud platforms &amp; failure points.</a:t>
            </a:r>
          </a:p>
          <a:p>
            <a:pPr>
              <a:spcAft>
                <a:spcPts val="400"/>
              </a:spcAft>
            </a:pPr>
            <a:r>
              <a:rPr sz="1050" b="1">
                <a:solidFill>
                  <a:srgbClr val="1A1A1A"/>
                </a:solidFill>
                <a:latin typeface="Arial"/>
              </a:rPr>
              <a:t>06.  ARCHITECTURAL COMPARISON (FIG. 1)
</a:t>
            </a:r>
            <a:r>
              <a:rPr sz="900">
                <a:solidFill>
                  <a:srgbClr val="64748B"/>
                </a:solidFill>
                <a:latin typeface="Arial"/>
              </a:rPr>
              <a:t>       Infrastructure-dependent vs. autonomous mesh.</a:t>
            </a:r>
          </a:p>
          <a:p>
            <a:pPr>
              <a:spcAft>
                <a:spcPts val="400"/>
              </a:spcAft>
            </a:pPr>
            <a:r>
              <a:rPr sz="1050" b="1">
                <a:solidFill>
                  <a:srgbClr val="1A1A1A"/>
                </a:solidFill>
                <a:latin typeface="Arial"/>
              </a:rPr>
              <a:t>07.  DRAWBACKS OF EXISTING SYSTEM
</a:t>
            </a:r>
            <a:r>
              <a:rPr sz="900">
                <a:solidFill>
                  <a:srgbClr val="64748B"/>
                </a:solidFill>
                <a:latin typeface="Arial"/>
              </a:rPr>
              <a:t>       Systemic collapse modes in campus disaster management.</a:t>
            </a:r>
          </a:p>
          <a:p>
            <a:pPr>
              <a:spcAft>
                <a:spcPts val="400"/>
              </a:spcAft>
            </a:pPr>
            <a:r>
              <a:rPr sz="1050" b="1">
                <a:solidFill>
                  <a:srgbClr val="1A1A1A"/>
                </a:solidFill>
                <a:latin typeface="Arial"/>
              </a:rPr>
              <a:t>08.  PROPOSED SYSTEM NOVELTY
</a:t>
            </a:r>
            <a:r>
              <a:rPr sz="900">
                <a:solidFill>
                  <a:srgbClr val="64748B"/>
                </a:solidFill>
                <a:latin typeface="Arial"/>
              </a:rPr>
              <a:t>       Strategic technical &amp; operational advantages.</a:t>
            </a:r>
          </a:p>
          <a:p>
            <a:pPr>
              <a:spcAft>
                <a:spcPts val="400"/>
              </a:spcAft>
            </a:pPr>
            <a:r>
              <a:rPr sz="1050" b="1">
                <a:solidFill>
                  <a:srgbClr val="1A1A1A"/>
                </a:solidFill>
                <a:latin typeface="Arial"/>
              </a:rPr>
              <a:t>09.  WORKFLOW ARCHITECTURE (FIG. 2)
</a:t>
            </a:r>
            <a:r>
              <a:rPr sz="900">
                <a:solidFill>
                  <a:srgbClr val="64748B"/>
                </a:solidFill>
                <a:latin typeface="Arial"/>
              </a:rPr>
              <a:t>       Person-to-person smartphone mesh relay network.</a:t>
            </a:r>
          </a:p>
          <a:p>
            <a:pPr>
              <a:spcAft>
                <a:spcPts val="400"/>
              </a:spcAft>
            </a:pPr>
            <a:r>
              <a:rPr sz="1050" b="1">
                <a:solidFill>
                  <a:srgbClr val="1A1A1A"/>
                </a:solidFill>
                <a:latin typeface="Arial"/>
              </a:rPr>
              <a:t>10.  SMARTPHONE ENGINE (FIG. 3)
</a:t>
            </a:r>
            <a:r>
              <a:rPr sz="900">
                <a:solidFill>
                  <a:srgbClr val="64748B"/>
                </a:solidFill>
                <a:latin typeface="Arial"/>
              </a:rPr>
              <a:t>       User screen, smart traffic brain &amp; dual radios.</a:t>
            </a:r>
          </a:p>
          <a:p>
            <a:pPr>
              <a:spcAft>
                <a:spcPts val="400"/>
              </a:spcAft>
            </a:pPr>
            <a:r>
              <a:rPr sz="1050" b="1">
                <a:solidFill>
                  <a:srgbClr val="1A1A1A"/>
                </a:solidFill>
                <a:latin typeface="Arial"/>
              </a:rPr>
              <a:t>11.  OPERATIONAL LIFECYCLE (FIG. 4)
</a:t>
            </a:r>
            <a:r>
              <a:rPr sz="900">
                <a:solidFill>
                  <a:srgbClr val="64748B"/>
                </a:solidFill>
                <a:latin typeface="Arial"/>
              </a:rPr>
              <a:t>       Pre-crisis setup, disaster survivability &amp; metrics.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01  |  EXECUTIVE RESEARCH SUMMARY</a:t>
            </a:r>
          </a:p>
          <a:p>
            <a:pPr>
              <a:spcBef>
                <a:spcPts val="300"/>
              </a:spcBef>
            </a:pPr>
            <a:r>
              <a:rPr sz="2600" b="1">
                <a:solidFill>
                  <a:srgbClr val="1A1A1A"/>
                </a:solidFill>
                <a:latin typeface="Arial"/>
              </a:rPr>
              <a:t>ABSTRACT</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3 of 15</a:t>
            </a:r>
          </a:p>
        </p:txBody>
      </p:sp>
      <p:sp>
        <p:nvSpPr>
          <p:cNvPr id="7" name="TextBox 6"/>
          <p:cNvSpPr txBox="1"/>
          <p:nvPr/>
        </p:nvSpPr>
        <p:spPr>
          <a:xfrm>
            <a:off x="731520" y="1600200"/>
            <a:ext cx="6858000" cy="4185761"/>
          </a:xfrm>
          <a:prstGeom prst="rect">
            <a:avLst/>
          </a:prstGeom>
          <a:noFill/>
        </p:spPr>
        <p:txBody>
          <a:bodyPr wrap="square" lIns="0" tIns="0">
            <a:spAutoFit/>
          </a:bodyPr>
          <a:lstStyle/>
          <a:p>
            <a:r>
              <a:rPr sz="2200" b="1" dirty="0">
                <a:solidFill>
                  <a:srgbClr val="D96B43"/>
                </a:solidFill>
                <a:latin typeface="Arial"/>
              </a:rPr>
              <a:t>Academic Abstract:</a:t>
            </a:r>
            <a:r>
              <a:rPr sz="1900" b="1" dirty="0">
                <a:solidFill>
                  <a:srgbClr val="D96B43"/>
                </a:solidFill>
                <a:latin typeface="Arial"/>
              </a:rPr>
              <a:t>
</a:t>
            </a:r>
            <a:r>
              <a:rPr sz="1900" dirty="0">
                <a:solidFill>
                  <a:srgbClr val="1A1A1A"/>
                </a:solidFill>
                <a:latin typeface="Arial"/>
              </a:rPr>
              <a:t>Modern educational institutions rely entirely on centralized commercial cloud platforms and cellular backhauls for daily coordination. During natural disasters or infrastructure collapses, these centralized dependencies trigger immediate campus communication blackouts. While consumer ad-hoc mesh tools exist, they are unsuited for institutional environments—causing severe broadcast storms, offering zero cryptographic authority, and delaying life-saving emergency beacons in unprioritized queues. This research formulates the architecture for an offline-first, decentralized campus mesh network that leverages dual-radio BLE/Wi-Fi Aware transport, hybrid cryptographic trust, and role-based QoS emergency preemption to ensure guaranteed communication resilience</a:t>
            </a:r>
            <a:r>
              <a:rPr lang="en-IN" sz="1900" dirty="0">
                <a:solidFill>
                  <a:srgbClr val="1A1A1A"/>
                </a:solidFill>
                <a:latin typeface="Arial"/>
              </a:rPr>
              <a:t>.</a:t>
            </a:r>
          </a:p>
        </p:txBody>
      </p:sp>
      <p:sp>
        <p:nvSpPr>
          <p:cNvPr id="8" name="Rounded Rectangle 7"/>
          <p:cNvSpPr/>
          <p:nvPr/>
        </p:nvSpPr>
        <p:spPr>
          <a:xfrm>
            <a:off x="7863840" y="1600200"/>
            <a:ext cx="3566160" cy="461772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00" b="1">
                <a:solidFill>
                  <a:srgbClr val="D96B43"/>
                </a:solidFill>
                <a:latin typeface="Arial"/>
              </a:rPr>
              <a:t>CORE RESEARCH PREMISE</a:t>
            </a:r>
          </a:p>
          <a:p>
            <a:pPr>
              <a:spcBef>
                <a:spcPts val="800"/>
              </a:spcBef>
            </a:pPr>
            <a:r>
              <a:rPr sz="1300" b="1">
                <a:solidFill>
                  <a:srgbClr val="1A1A1A"/>
                </a:solidFill>
                <a:latin typeface="Arial"/>
              </a:rPr>
              <a:t>"Why do current communication tools leave campus communities helpless in crises?"
</a:t>
            </a:r>
          </a:p>
          <a:p>
            <a:pPr>
              <a:spcBef>
                <a:spcPts val="500"/>
              </a:spcBef>
            </a:pPr>
            <a:r>
              <a:rPr sz="1200" b="1">
                <a:solidFill>
                  <a:srgbClr val="1A1A1A"/>
                </a:solidFill>
                <a:latin typeface="Arial"/>
              </a:rPr>
              <a:t>- Zero Infrastructure Fallback:
</a:t>
            </a:r>
            <a:r>
              <a:rPr sz="1050">
                <a:solidFill>
                  <a:srgbClr val="475569"/>
                </a:solidFill>
                <a:latin typeface="Arial"/>
              </a:rPr>
              <a:t>  Commercial apps provide 0% local communication when internet towers lose power.</a:t>
            </a:r>
          </a:p>
          <a:p>
            <a:pPr>
              <a:spcBef>
                <a:spcPts val="500"/>
              </a:spcBef>
            </a:pPr>
            <a:r>
              <a:rPr sz="1200" b="1">
                <a:solidFill>
                  <a:srgbClr val="1A1A1A"/>
                </a:solidFill>
                <a:latin typeface="Arial"/>
              </a:rPr>
              <a:t>- The Academic Vacuum:
</a:t>
            </a:r>
            <a:r>
              <a:rPr sz="1050">
                <a:solidFill>
                  <a:srgbClr val="475569"/>
                </a:solidFill>
                <a:latin typeface="Arial"/>
              </a:rPr>
              <a:t>  No existing system provides decentralized edge routing tailored for verified organizational roles.</a:t>
            </a:r>
          </a:p>
          <a:p>
            <a:pPr>
              <a:spcBef>
                <a:spcPts val="500"/>
              </a:spcBef>
            </a:pPr>
            <a:r>
              <a:rPr sz="1200" b="1">
                <a:solidFill>
                  <a:srgbClr val="1A1A1A"/>
                </a:solidFill>
                <a:latin typeface="Arial"/>
              </a:rPr>
              <a:t>- The Mesh Solution:
</a:t>
            </a:r>
            <a:r>
              <a:rPr sz="1050">
                <a:solidFill>
                  <a:srgbClr val="475569"/>
                </a:solidFill>
                <a:latin typeface="Arial"/>
              </a:rPr>
              <a:t>  Empowering student smartphones to act as intelligent, battery-efficient multi-hop relays.</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D3FF99F2-3F53-A665-1984-34509FA76B51}"/>
                  </a:ext>
                </a:extLst>
              </p14:cNvPr>
              <p14:cNvContentPartPr/>
              <p14:nvPr/>
            </p14:nvContentPartPr>
            <p14:xfrm>
              <a:off x="4844880" y="3771720"/>
              <a:ext cx="360" cy="25920"/>
            </p14:xfrm>
          </p:contentPart>
        </mc:Choice>
        <mc:Fallback xmlns="">
          <p:pic>
            <p:nvPicPr>
              <p:cNvPr id="9" name="Ink 8">
                <a:extLst>
                  <a:ext uri="{FF2B5EF4-FFF2-40B4-BE49-F238E27FC236}">
                    <a16:creationId xmlns:a16="http://schemas.microsoft.com/office/drawing/2014/main" id="{D3FF99F2-3F53-A665-1984-34509FA76B51}"/>
                  </a:ext>
                </a:extLst>
              </p:cNvPr>
              <p:cNvPicPr/>
              <p:nvPr/>
            </p:nvPicPr>
            <p:blipFill>
              <a:blip r:embed="rId3"/>
              <a:stretch>
                <a:fillRect/>
              </a:stretch>
            </p:blipFill>
            <p:spPr>
              <a:xfrm>
                <a:off x="4835520" y="3762360"/>
                <a:ext cx="19080" cy="446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02  |  FORMULATION OF SYSTEMIC DEFICITS</a:t>
            </a:r>
          </a:p>
          <a:p>
            <a:pPr>
              <a:spcBef>
                <a:spcPts val="300"/>
              </a:spcBef>
            </a:pPr>
            <a:r>
              <a:rPr sz="2600" b="1">
                <a:solidFill>
                  <a:srgbClr val="1A1A1A"/>
                </a:solidFill>
                <a:latin typeface="Arial"/>
              </a:rPr>
              <a:t>PROBLEM STATEMENT</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4 of 15</a:t>
            </a:r>
          </a:p>
        </p:txBody>
      </p:sp>
      <p:sp>
        <p:nvSpPr>
          <p:cNvPr id="7" name="TextBox 6"/>
          <p:cNvSpPr txBox="1"/>
          <p:nvPr/>
        </p:nvSpPr>
        <p:spPr>
          <a:xfrm>
            <a:off x="731520" y="1600200"/>
            <a:ext cx="6858000" cy="3893374"/>
          </a:xfrm>
          <a:prstGeom prst="rect">
            <a:avLst/>
          </a:prstGeom>
          <a:noFill/>
        </p:spPr>
        <p:txBody>
          <a:bodyPr wrap="square" lIns="0" tIns="0">
            <a:spAutoFit/>
          </a:bodyPr>
          <a:lstStyle/>
          <a:p>
            <a:r>
              <a:rPr sz="2200" b="1" dirty="0">
                <a:solidFill>
                  <a:srgbClr val="D96B43"/>
                </a:solidFill>
                <a:latin typeface="Arial"/>
              </a:rPr>
              <a:t>Problem Formulation Statement:</a:t>
            </a:r>
            <a:r>
              <a:rPr sz="2000" b="1" dirty="0">
                <a:solidFill>
                  <a:srgbClr val="D96B43"/>
                </a:solidFill>
                <a:latin typeface="Arial"/>
              </a:rPr>
              <a:t>
</a:t>
            </a:r>
            <a:r>
              <a:rPr sz="1900" dirty="0">
                <a:solidFill>
                  <a:srgbClr val="1A1A1A"/>
                </a:solidFill>
                <a:latin typeface="Arial"/>
              </a:rPr>
              <a:t>Contemporary university campus communication systems rely completely on external commercial cellular networks and centralized cloud servers. When cyclones, power grid collapses, or physical cable cuts strike, this creates a catastrophic single point of failure that paralyzes administrative coordination. Meanwhile, attempting to deploy standard consumer ad-hoc mesh tools introduces severe operational failures: unmanaged multi-hop flooding triggers channel contention dropping over 70% of packets, the complete lack of cryptographic role verification enables panic and unverified rumors, and unprioritized FIFO queuing stalls life-critical emergency SOS alerts behind casual chat.</a:t>
            </a:r>
          </a:p>
        </p:txBody>
      </p:sp>
      <p:sp>
        <p:nvSpPr>
          <p:cNvPr id="8" name="Rounded Rectangle 7"/>
          <p:cNvSpPr/>
          <p:nvPr/>
        </p:nvSpPr>
        <p:spPr>
          <a:xfrm>
            <a:off x="7863840" y="1600200"/>
            <a:ext cx="3566160" cy="4617720"/>
          </a:xfrm>
          <a:prstGeom prst="roundRect">
            <a:avLst/>
          </a:prstGeom>
          <a:solidFill>
            <a:srgbClr val="F5ECE3"/>
          </a:solidFill>
          <a:ln w="22860">
            <a:solidFill>
              <a:srgbClr val="D96B43"/>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00" b="1">
                <a:solidFill>
                  <a:srgbClr val="D96B43"/>
                </a:solidFill>
                <a:latin typeface="Arial"/>
              </a:rPr>
              <a:t>CRITICAL FAILURE SUMMARY</a:t>
            </a:r>
          </a:p>
          <a:p>
            <a:pPr>
              <a:spcBef>
                <a:spcPts val="800"/>
              </a:spcBef>
            </a:pPr>
            <a:r>
              <a:rPr sz="1300" b="1">
                <a:solidFill>
                  <a:srgbClr val="1A1A1A"/>
                </a:solidFill>
                <a:latin typeface="Arial"/>
              </a:rPr>
              <a:t>WHY CONTEMPORARY APPS FAIL CAMPUS CRISES:
</a:t>
            </a:r>
          </a:p>
          <a:p>
            <a:pPr>
              <a:spcBef>
                <a:spcPts val="400"/>
              </a:spcBef>
            </a:pPr>
            <a:r>
              <a:rPr sz="1200" b="1">
                <a:solidFill>
                  <a:srgbClr val="D96B43"/>
                </a:solidFill>
                <a:latin typeface="Arial"/>
              </a:rPr>
              <a:t>- [!] Total Cloud Lock-in:
</a:t>
            </a:r>
            <a:r>
              <a:rPr sz="1050">
                <a:solidFill>
                  <a:srgbClr val="1A1A1A"/>
                </a:solidFill>
                <a:latin typeface="Arial"/>
              </a:rPr>
              <a:t>   Zero offline routing across local smartphone radios.</a:t>
            </a:r>
          </a:p>
          <a:p>
            <a:pPr>
              <a:spcBef>
                <a:spcPts val="400"/>
              </a:spcBef>
            </a:pPr>
            <a:r>
              <a:rPr sz="1200" b="1">
                <a:solidFill>
                  <a:srgbClr val="D96B43"/>
                </a:solidFill>
                <a:latin typeface="Arial"/>
              </a:rPr>
              <a:t>- [!] Packet Collapse:
</a:t>
            </a:r>
            <a:r>
              <a:rPr sz="1050">
                <a:solidFill>
                  <a:srgbClr val="1A1A1A"/>
                </a:solidFill>
                <a:latin typeface="Arial"/>
              </a:rPr>
              <a:t>   Unregulated flooding destroys wireless throughput in crowded corridors.</a:t>
            </a:r>
          </a:p>
          <a:p>
            <a:pPr>
              <a:spcBef>
                <a:spcPts val="400"/>
              </a:spcBef>
            </a:pPr>
            <a:r>
              <a:rPr sz="1200" b="1">
                <a:solidFill>
                  <a:srgbClr val="D96B43"/>
                </a:solidFill>
                <a:latin typeface="Arial"/>
              </a:rPr>
              <a:t>- [!] Spoofing Vulnerability:
</a:t>
            </a:r>
            <a:r>
              <a:rPr sz="1050">
                <a:solidFill>
                  <a:srgbClr val="1A1A1A"/>
                </a:solidFill>
                <a:latin typeface="Arial"/>
              </a:rPr>
              <a:t>   Zero offline public key verification allows rogue fake alerts.</a:t>
            </a:r>
          </a:p>
          <a:p>
            <a:pPr>
              <a:spcBef>
                <a:spcPts val="400"/>
              </a:spcBef>
            </a:pPr>
            <a:r>
              <a:rPr sz="1200" b="1">
                <a:solidFill>
                  <a:srgbClr val="D96B43"/>
                </a:solidFill>
                <a:latin typeface="Arial"/>
              </a:rPr>
              <a:t>- [!] FIFO Queue Stalls:
</a:t>
            </a:r>
            <a:r>
              <a:rPr sz="1050">
                <a:solidFill>
                  <a:srgbClr val="1A1A1A"/>
                </a:solidFill>
                <a:latin typeface="Arial"/>
              </a:rPr>
              <a:t>   Medical SOS packets delayed with zero emergency preemption.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03  |  CAMPUS CONTEXT &amp; NETWORK PARADIGMS</a:t>
            </a:r>
          </a:p>
          <a:p>
            <a:pPr>
              <a:spcBef>
                <a:spcPts val="300"/>
              </a:spcBef>
            </a:pPr>
            <a:r>
              <a:rPr sz="2600" b="1">
                <a:solidFill>
                  <a:srgbClr val="1A1A1A"/>
                </a:solidFill>
                <a:latin typeface="Arial"/>
              </a:rPr>
              <a:t>INTRODUCTION</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5 of 15</a:t>
            </a:r>
          </a:p>
        </p:txBody>
      </p:sp>
      <p:sp>
        <p:nvSpPr>
          <p:cNvPr id="7" name="TextBox 6"/>
          <p:cNvSpPr txBox="1"/>
          <p:nvPr/>
        </p:nvSpPr>
        <p:spPr>
          <a:xfrm>
            <a:off x="731520" y="1810682"/>
            <a:ext cx="6858000" cy="3770263"/>
          </a:xfrm>
          <a:prstGeom prst="rect">
            <a:avLst/>
          </a:prstGeom>
          <a:noFill/>
        </p:spPr>
        <p:txBody>
          <a:bodyPr wrap="square" lIns="0" tIns="0">
            <a:spAutoFit/>
          </a:bodyPr>
          <a:lstStyle/>
          <a:p>
            <a:r>
              <a:rPr sz="1600" b="1" dirty="0">
                <a:solidFill>
                  <a:srgbClr val="1A1A1A"/>
                </a:solidFill>
                <a:latin typeface="Arial"/>
              </a:rPr>
              <a:t>• Dense Micro-Community Footprint:
</a:t>
            </a:r>
            <a:r>
              <a:rPr sz="1600" dirty="0">
                <a:solidFill>
                  <a:srgbClr val="475569"/>
                </a:solidFill>
                <a:latin typeface="Arial"/>
              </a:rPr>
              <a:t>   Educational campuses concentrate 5,000+ students and staff across 50 acres, requiring rapid and autonomous information sharing.</a:t>
            </a:r>
          </a:p>
          <a:p>
            <a:pPr>
              <a:spcBef>
                <a:spcPts val="1000"/>
              </a:spcBef>
            </a:pPr>
            <a:r>
              <a:rPr sz="1600" b="1" dirty="0">
                <a:solidFill>
                  <a:srgbClr val="1A1A1A"/>
                </a:solidFill>
                <a:latin typeface="Arial"/>
              </a:rPr>
              <a:t>• Single Point of Failure Vulnerability:
</a:t>
            </a:r>
            <a:r>
              <a:rPr sz="1600" dirty="0">
                <a:solidFill>
                  <a:srgbClr val="475569"/>
                </a:solidFill>
                <a:latin typeface="Arial"/>
              </a:rPr>
              <a:t>   Routine reliance on external cellular towers (4G/5G) and Wi-Fi APs causes total network blackout during power grid cuts or cyclones.</a:t>
            </a:r>
          </a:p>
          <a:p>
            <a:pPr>
              <a:spcBef>
                <a:spcPts val="1000"/>
              </a:spcBef>
            </a:pPr>
            <a:r>
              <a:rPr sz="1600" b="1" dirty="0">
                <a:solidFill>
                  <a:srgbClr val="1A1A1A"/>
                </a:solidFill>
                <a:latin typeface="Arial"/>
              </a:rPr>
              <a:t>• Latent Smartphone Transceiver Potential:
</a:t>
            </a:r>
            <a:r>
              <a:rPr sz="1600" dirty="0">
                <a:solidFill>
                  <a:srgbClr val="475569"/>
                </a:solidFill>
                <a:latin typeface="Arial"/>
              </a:rPr>
              <a:t>   Student smartphones already possess multi-standard radios (BLE, Wi-Fi Aware) capable of direct device-to-device communication.</a:t>
            </a:r>
          </a:p>
          <a:p>
            <a:pPr>
              <a:spcBef>
                <a:spcPts val="1000"/>
              </a:spcBef>
            </a:pPr>
            <a:r>
              <a:rPr sz="1600" b="1" dirty="0">
                <a:solidFill>
                  <a:srgbClr val="1A1A1A"/>
                </a:solidFill>
                <a:latin typeface="Arial"/>
              </a:rPr>
              <a:t>• The Missing Campus Routing Fabric:
</a:t>
            </a:r>
            <a:r>
              <a:rPr sz="1600" dirty="0">
                <a:solidFill>
                  <a:srgbClr val="475569"/>
                </a:solidFill>
                <a:latin typeface="Arial"/>
              </a:rPr>
              <a:t>   Current OS and mobile apps lack decentralized edge routing, institutional role verification, and life-critical emergency QoS.</a:t>
            </a:r>
          </a:p>
        </p:txBody>
      </p:sp>
      <p:sp>
        <p:nvSpPr>
          <p:cNvPr id="8" name="Rounded Rectangle 7"/>
          <p:cNvSpPr/>
          <p:nvPr/>
        </p:nvSpPr>
        <p:spPr>
          <a:xfrm>
            <a:off x="7863840" y="1600200"/>
            <a:ext cx="3566160" cy="461772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300" b="1" dirty="0">
                <a:solidFill>
                  <a:srgbClr val="D96B43"/>
                </a:solidFill>
                <a:latin typeface="Arial"/>
              </a:rPr>
              <a:t>CAMPUS SCALE &amp; OPPORTUNITY</a:t>
            </a:r>
          </a:p>
          <a:p>
            <a:pPr>
              <a:spcBef>
                <a:spcPts val="800"/>
              </a:spcBef>
            </a:pPr>
            <a:r>
              <a:rPr sz="1300" b="1" dirty="0">
                <a:solidFill>
                  <a:srgbClr val="1A1A1A"/>
                </a:solidFill>
                <a:latin typeface="Arial"/>
              </a:rPr>
              <a:t>THE CAMPUS ECOSYSTEM:
</a:t>
            </a:r>
          </a:p>
          <a:p>
            <a:pPr>
              <a:spcBef>
                <a:spcPts val="600"/>
              </a:spcBef>
            </a:pPr>
            <a:r>
              <a:rPr sz="1300" b="1" dirty="0">
                <a:solidFill>
                  <a:srgbClr val="1A1A1A"/>
                </a:solidFill>
                <a:latin typeface="Arial"/>
              </a:rPr>
              <a:t>- Dense Footprint:
</a:t>
            </a:r>
            <a:r>
              <a:rPr sz="1300" dirty="0">
                <a:solidFill>
                  <a:srgbClr val="475569"/>
                </a:solidFill>
                <a:latin typeface="Arial"/>
              </a:rPr>
              <a:t>  5,000+ mobile nodes within an enclosed 50-acre perimeter.</a:t>
            </a:r>
          </a:p>
          <a:p>
            <a:pPr>
              <a:spcBef>
                <a:spcPts val="600"/>
              </a:spcBef>
            </a:pPr>
            <a:r>
              <a:rPr sz="1300" b="1" dirty="0">
                <a:solidFill>
                  <a:srgbClr val="1A1A1A"/>
                </a:solidFill>
                <a:latin typeface="Arial"/>
              </a:rPr>
              <a:t>- Latent Mesh Fabric:
</a:t>
            </a:r>
            <a:r>
              <a:rPr sz="1300" dirty="0">
                <a:solidFill>
                  <a:srgbClr val="475569"/>
                </a:solidFill>
                <a:latin typeface="Arial"/>
              </a:rPr>
              <a:t>  Thousands of BLE and Wi-Fi transceivers active in student pockets.</a:t>
            </a:r>
          </a:p>
          <a:p>
            <a:pPr>
              <a:spcBef>
                <a:spcPts val="600"/>
              </a:spcBef>
            </a:pPr>
            <a:r>
              <a:rPr sz="1300" b="1" dirty="0">
                <a:solidFill>
                  <a:srgbClr val="1A1A1A"/>
                </a:solidFill>
                <a:latin typeface="Arial"/>
              </a:rPr>
              <a:t>- The Opportunity:
</a:t>
            </a:r>
            <a:r>
              <a:rPr sz="1300" dirty="0">
                <a:solidFill>
                  <a:srgbClr val="475569"/>
                </a:solidFill>
                <a:latin typeface="Arial"/>
              </a:rPr>
              <a:t>  Creating an autonomous local network without telecom infrastructure or external ISP costs.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50" b="1" dirty="0">
                <a:solidFill>
                  <a:srgbClr val="E2E8F0"/>
                </a:solidFill>
                <a:latin typeface="Arial"/>
              </a:rPr>
              <a:t>  |  TEAM 1</a:t>
            </a:r>
            <a:r>
              <a:rPr lang="en-US" sz="950" b="1" dirty="0">
                <a:solidFill>
                  <a:srgbClr val="E2E8F0"/>
                </a:solidFill>
                <a:latin typeface="Arial"/>
              </a:rPr>
              <a:t>2</a:t>
            </a:r>
            <a:endParaRPr sz="950" b="1" dirty="0">
              <a:solidFill>
                <a:srgbClr val="E2E8F0"/>
              </a:solidFill>
              <a:latin typeface="Arial"/>
            </a:endParaRPr>
          </a:p>
        </p:txBody>
      </p:sp>
      <p:sp>
        <p:nvSpPr>
          <p:cNvPr id="4" name="TextBox 3"/>
          <p:cNvSpPr txBox="1"/>
          <p:nvPr/>
        </p:nvSpPr>
        <p:spPr>
          <a:xfrm>
            <a:off x="1097280" y="2508235"/>
            <a:ext cx="6126480" cy="1841530"/>
          </a:xfrm>
          <a:prstGeom prst="rect">
            <a:avLst/>
          </a:prstGeom>
          <a:noFill/>
        </p:spPr>
        <p:txBody>
          <a:bodyPr wrap="square" lIns="0" tIns="0">
            <a:spAutoFit/>
          </a:bodyPr>
          <a:lstStyle/>
          <a:p>
            <a:r>
              <a:rPr sz="1400" b="1" dirty="0">
                <a:solidFill>
                  <a:srgbClr val="D96B43"/>
                </a:solidFill>
                <a:latin typeface="Arial"/>
              </a:rPr>
              <a:t>| SECTION 04</a:t>
            </a:r>
          </a:p>
          <a:p>
            <a:pPr>
              <a:spcBef>
                <a:spcPts val="1200"/>
              </a:spcBef>
            </a:pPr>
            <a:r>
              <a:rPr sz="3600" b="1" dirty="0">
                <a:solidFill>
                  <a:srgbClr val="1A1A1A"/>
                </a:solidFill>
                <a:latin typeface="Arial"/>
              </a:rPr>
              <a:t>LITERATURE SURVEY</a:t>
            </a:r>
          </a:p>
          <a:p>
            <a:pPr>
              <a:spcBef>
                <a:spcPts val="1400"/>
              </a:spcBef>
            </a:pPr>
            <a:r>
              <a:rPr sz="1500" b="1" dirty="0">
                <a:solidFill>
                  <a:srgbClr val="475569"/>
                </a:solidFill>
                <a:latin typeface="Arial"/>
              </a:rPr>
              <a:t>Systematic review of foundational IEEE research in ad-hoc mesh routing, BLE multi-hop reliability, opportunistic DTNs, and congestion mitigation (2024 to 2018 in descending order).</a:t>
            </a:r>
          </a:p>
        </p:txBody>
      </p:sp>
      <p:sp>
        <p:nvSpPr>
          <p:cNvPr id="5" name="Rounded Rectangle 4"/>
          <p:cNvSpPr/>
          <p:nvPr/>
        </p:nvSpPr>
        <p:spPr>
          <a:xfrm>
            <a:off x="7680960" y="1199254"/>
            <a:ext cx="3749039" cy="448056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28600" rIns="274320" rtlCol="0" anchor="ctr"/>
          <a:lstStyle/>
          <a:p>
            <a:pPr algn="ctr"/>
            <a:r>
              <a:rPr sz="1300" b="1" dirty="0">
                <a:solidFill>
                  <a:srgbClr val="D96B43"/>
                </a:solidFill>
                <a:latin typeface="Arial"/>
              </a:rPr>
              <a:t>SURVEYED RESEARCH PILLARS</a:t>
            </a:r>
          </a:p>
          <a:p>
            <a:pPr>
              <a:spcBef>
                <a:spcPts val="800"/>
              </a:spcBef>
            </a:pPr>
            <a:r>
              <a:rPr sz="1300" b="1" dirty="0">
                <a:solidFill>
                  <a:srgbClr val="1A1A1A"/>
                </a:solidFill>
                <a:latin typeface="Arial"/>
              </a:rPr>
              <a:t>- 1. Reliable BLE Mesh Surge Routing
</a:t>
            </a:r>
            <a:r>
              <a:rPr sz="1300" dirty="0">
                <a:solidFill>
                  <a:srgbClr val="475569"/>
                </a:solidFill>
                <a:latin typeface="Arial"/>
              </a:rPr>
              <a:t>   Law et al. (IEEE </a:t>
            </a:r>
            <a:r>
              <a:rPr sz="1300" dirty="0" err="1">
                <a:solidFill>
                  <a:srgbClr val="475569"/>
                </a:solidFill>
                <a:latin typeface="Arial"/>
              </a:rPr>
              <a:t>HealthCom</a:t>
            </a:r>
            <a:r>
              <a:rPr sz="1300" dirty="0">
                <a:solidFill>
                  <a:srgbClr val="475569"/>
                </a:solidFill>
                <a:latin typeface="Arial"/>
              </a:rPr>
              <a:t>, 2024)</a:t>
            </a:r>
          </a:p>
          <a:p>
            <a:pPr>
              <a:spcBef>
                <a:spcPts val="800"/>
              </a:spcBef>
            </a:pPr>
            <a:r>
              <a:rPr sz="1300" b="1" dirty="0">
                <a:solidFill>
                  <a:srgbClr val="1A1A1A"/>
                </a:solidFill>
                <a:latin typeface="Arial"/>
              </a:rPr>
              <a:t>- 2. Opportunistic Disaster Routing
</a:t>
            </a:r>
            <a:r>
              <a:rPr sz="1300" dirty="0">
                <a:solidFill>
                  <a:srgbClr val="475569"/>
                </a:solidFill>
                <a:latin typeface="Arial"/>
              </a:rPr>
              <a:t>   Dalal et al. (IEEE Access, 2022)</a:t>
            </a:r>
          </a:p>
          <a:p>
            <a:pPr>
              <a:spcBef>
                <a:spcPts val="800"/>
              </a:spcBef>
            </a:pPr>
            <a:r>
              <a:rPr sz="1300" b="1" dirty="0">
                <a:solidFill>
                  <a:srgbClr val="1A1A1A"/>
                </a:solidFill>
                <a:latin typeface="Arial"/>
              </a:rPr>
              <a:t>- 3. Dynamic Mesh Congestion Control
</a:t>
            </a:r>
            <a:r>
              <a:rPr sz="1300" dirty="0">
                <a:solidFill>
                  <a:srgbClr val="475569"/>
                </a:solidFill>
                <a:latin typeface="Arial"/>
              </a:rPr>
              <a:t>   Al-</a:t>
            </a:r>
            <a:r>
              <a:rPr sz="1300" dirty="0" err="1">
                <a:solidFill>
                  <a:srgbClr val="475569"/>
                </a:solidFill>
                <a:latin typeface="Arial"/>
              </a:rPr>
              <a:t>Kashoash</a:t>
            </a:r>
            <a:r>
              <a:rPr sz="1300" dirty="0">
                <a:solidFill>
                  <a:srgbClr val="475569"/>
                </a:solidFill>
                <a:latin typeface="Arial"/>
              </a:rPr>
              <a:t> et al. (IEEE IoT Journal, 2019)</a:t>
            </a:r>
          </a:p>
          <a:p>
            <a:pPr>
              <a:spcBef>
                <a:spcPts val="800"/>
              </a:spcBef>
            </a:pPr>
            <a:r>
              <a:rPr sz="1300" b="1" dirty="0">
                <a:solidFill>
                  <a:srgbClr val="1A1A1A"/>
                </a:solidFill>
                <a:latin typeface="Arial"/>
              </a:rPr>
              <a:t>- 4. Delay-Tolerant Mobile Social Nets
</a:t>
            </a:r>
            <a:r>
              <a:rPr sz="1300" dirty="0">
                <a:solidFill>
                  <a:srgbClr val="475569"/>
                </a:solidFill>
                <a:latin typeface="Arial"/>
              </a:rPr>
              <a:t>   Asghar et al. (IEEE Access, 2018)</a:t>
            </a: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6 of 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04  |  PEER-REVIEWED RESEARCH ANALYSIS (DESCENDING ORDER)</a:t>
            </a:r>
          </a:p>
          <a:p>
            <a:pPr>
              <a:spcBef>
                <a:spcPts val="300"/>
              </a:spcBef>
            </a:pPr>
            <a:r>
              <a:rPr sz="2600" b="1">
                <a:solidFill>
                  <a:srgbClr val="1A1A1A"/>
                </a:solidFill>
                <a:latin typeface="Arial"/>
              </a:rPr>
              <a:t>TABLE 1: LITERATURE SURVEY SUMMARY</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7 of 15</a:t>
            </a:r>
          </a:p>
        </p:txBody>
      </p:sp>
      <p:graphicFrame>
        <p:nvGraphicFramePr>
          <p:cNvPr id="7" name="Table 6"/>
          <p:cNvGraphicFramePr>
            <a:graphicFrameLocks noGrp="1"/>
          </p:cNvGraphicFramePr>
          <p:nvPr>
            <p:extLst>
              <p:ext uri="{D42A27DB-BD31-4B8C-83A1-F6EECF244321}">
                <p14:modId xmlns:p14="http://schemas.microsoft.com/office/powerpoint/2010/main" val="423580020"/>
              </p:ext>
            </p:extLst>
          </p:nvPr>
        </p:nvGraphicFramePr>
        <p:xfrm>
          <a:off x="731520" y="1243584"/>
          <a:ext cx="10728655" cy="48829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590495">
                  <a:extLst>
                    <a:ext uri="{9D8B030D-6E8A-4147-A177-3AD203B41FA5}">
                      <a16:colId xmlns:a16="http://schemas.microsoft.com/office/drawing/2014/main" val="20003"/>
                    </a:ext>
                  </a:extLst>
                </a:gridCol>
              </a:tblGrid>
              <a:tr h="976580">
                <a:tc>
                  <a:txBody>
                    <a:bodyPr/>
                    <a:lstStyle/>
                    <a:p>
                      <a:pPr algn="ctr"/>
                      <a:r>
                        <a:rPr sz="1200" b="1">
                          <a:solidFill>
                            <a:srgbClr val="FFFFFF"/>
                          </a:solidFill>
                          <a:latin typeface="Arial"/>
                        </a:rPr>
                        <a:t>Author &amp; Year
(Click to Open)</a:t>
                      </a:r>
                    </a:p>
                  </a:txBody>
                  <a:tcPr marL="109728" marR="109728" anchor="ctr">
                    <a:solidFill>
                      <a:srgbClr val="1A1A1A"/>
                    </a:solidFill>
                  </a:tcPr>
                </a:tc>
                <a:tc>
                  <a:txBody>
                    <a:bodyPr/>
                    <a:lstStyle/>
                    <a:p>
                      <a:pPr algn="ctr"/>
                      <a:r>
                        <a:rPr sz="1200" b="1" dirty="0">
                          <a:solidFill>
                            <a:srgbClr val="FFFFFF"/>
                          </a:solidFill>
                          <a:latin typeface="Arial"/>
                        </a:rPr>
                        <a:t>Publication Venue &amp;
Core Methodology</a:t>
                      </a:r>
                    </a:p>
                  </a:txBody>
                  <a:tcPr marL="109728" marR="109728" anchor="ctr">
                    <a:solidFill>
                      <a:srgbClr val="1A1A1A"/>
                    </a:solidFill>
                  </a:tcPr>
                </a:tc>
                <a:tc>
                  <a:txBody>
                    <a:bodyPr/>
                    <a:lstStyle/>
                    <a:p>
                      <a:pPr algn="ctr"/>
                      <a:r>
                        <a:rPr sz="1200" b="1">
                          <a:solidFill>
                            <a:srgbClr val="FFFFFF"/>
                          </a:solidFill>
                          <a:latin typeface="Arial"/>
                        </a:rPr>
                        <a:t>Key Findings &amp;
Systemic Strengths</a:t>
                      </a:r>
                    </a:p>
                  </a:txBody>
                  <a:tcPr marL="109728" marR="109728" anchor="ctr">
                    <a:solidFill>
                      <a:srgbClr val="1A1A1A"/>
                    </a:solidFill>
                  </a:tcPr>
                </a:tc>
                <a:tc>
                  <a:txBody>
                    <a:bodyPr/>
                    <a:lstStyle/>
                    <a:p>
                      <a:pPr algn="ctr"/>
                      <a:r>
                        <a:rPr sz="1200" b="1">
                          <a:solidFill>
                            <a:srgbClr val="FFFFFF"/>
                          </a:solidFill>
                          <a:latin typeface="Arial"/>
                        </a:rPr>
                        <a:t>Identified Gaps &amp;
Critical Drawbacks</a:t>
                      </a:r>
                    </a:p>
                  </a:txBody>
                  <a:tcPr marL="109728" marR="109728" anchor="ctr">
                    <a:solidFill>
                      <a:srgbClr val="1A1A1A"/>
                    </a:solidFill>
                  </a:tcPr>
                </a:tc>
                <a:extLst>
                  <a:ext uri="{0D108BD9-81ED-4DB2-BD59-A6C34878D82A}">
                    <a16:rowId xmlns:a16="http://schemas.microsoft.com/office/drawing/2014/main" val="10000"/>
                  </a:ext>
                </a:extLst>
              </a:tr>
              <a:tr h="976580">
                <a:tc>
                  <a:txBody>
                    <a:bodyPr/>
                    <a:lstStyle/>
                    <a:p>
                      <a:r>
                        <a:rPr sz="1200" b="1" dirty="0">
                          <a:solidFill>
                            <a:srgbClr val="D96B43"/>
                          </a:solidFill>
                          <a:latin typeface="Arial"/>
                          <a:hlinkClick r:id="rId2"/>
                        </a:rPr>
                        <a:t>Law et al. (2024)
</a:t>
                      </a:r>
                      <a:r>
                        <a:rPr sz="1200" b="1" dirty="0">
                          <a:solidFill>
                            <a:srgbClr val="1E40AF"/>
                          </a:solidFill>
                          <a:latin typeface="Arial"/>
                          <a:hlinkClick r:id="rId2"/>
                        </a:rPr>
                        <a:t>[Open IEEE Paper]</a:t>
                      </a:r>
                    </a:p>
                  </a:txBody>
                  <a:tcPr marL="109728" anchor="ctr">
                    <a:solidFill>
                      <a:srgbClr val="F5ECE3"/>
                    </a:solidFill>
                  </a:tcPr>
                </a:tc>
                <a:tc>
                  <a:txBody>
                    <a:bodyPr/>
                    <a:lstStyle/>
                    <a:p>
                      <a:r>
                        <a:rPr sz="1200" dirty="0">
                          <a:solidFill>
                            <a:srgbClr val="1A1A1A"/>
                          </a:solidFill>
                          <a:latin typeface="Arial"/>
                        </a:rPr>
                        <a:t>IEEE </a:t>
                      </a:r>
                      <a:r>
                        <a:rPr sz="1200" dirty="0" err="1">
                          <a:solidFill>
                            <a:srgbClr val="1A1A1A"/>
                          </a:solidFill>
                          <a:latin typeface="Arial"/>
                        </a:rPr>
                        <a:t>HealthCom</a:t>
                      </a:r>
                      <a:r>
                        <a:rPr sz="1200" dirty="0">
                          <a:solidFill>
                            <a:srgbClr val="1A1A1A"/>
                          </a:solidFill>
                          <a:latin typeface="Arial"/>
                        </a:rPr>
                        <a:t> (2024)
• BLE mesh surge networking
• CoAP-assisted fog caching</a:t>
                      </a:r>
                    </a:p>
                  </a:txBody>
                  <a:tcPr marL="109728" anchor="ctr">
                    <a:solidFill>
                      <a:srgbClr val="F5ECE3"/>
                    </a:solidFill>
                  </a:tcPr>
                </a:tc>
                <a:tc>
                  <a:txBody>
                    <a:bodyPr/>
                    <a:lstStyle/>
                    <a:p>
                      <a:r>
                        <a:rPr sz="1200">
                          <a:solidFill>
                            <a:srgbClr val="475569"/>
                          </a:solidFill>
                          <a:latin typeface="Arial"/>
                        </a:rPr>
                        <a:t>• Proved edge caching prevents multi-hop BLE buffer drops in high-density surge spaces.</a:t>
                      </a:r>
                    </a:p>
                  </a:txBody>
                  <a:tcPr marL="109728" anchor="ctr">
                    <a:solidFill>
                      <a:srgbClr val="F5ECE3"/>
                    </a:solidFill>
                  </a:tcPr>
                </a:tc>
                <a:tc>
                  <a:txBody>
                    <a:bodyPr/>
                    <a:lstStyle/>
                    <a:p>
                      <a:r>
                        <a:rPr sz="1200" b="1">
                          <a:solidFill>
                            <a:srgbClr val="991B1B"/>
                          </a:solidFill>
                          <a:latin typeface="Arial"/>
                        </a:rPr>
                        <a:t>• Lacks dynamic Wi-Fi Aware upgrade
• Zero institutional PKI authentication</a:t>
                      </a:r>
                    </a:p>
                  </a:txBody>
                  <a:tcPr marL="109728" anchor="ctr">
                    <a:solidFill>
                      <a:srgbClr val="F5ECE3"/>
                    </a:solidFill>
                  </a:tcPr>
                </a:tc>
                <a:extLst>
                  <a:ext uri="{0D108BD9-81ED-4DB2-BD59-A6C34878D82A}">
                    <a16:rowId xmlns:a16="http://schemas.microsoft.com/office/drawing/2014/main" val="10001"/>
                  </a:ext>
                </a:extLst>
              </a:tr>
              <a:tr h="976580">
                <a:tc>
                  <a:txBody>
                    <a:bodyPr/>
                    <a:lstStyle/>
                    <a:p>
                      <a:r>
                        <a:rPr sz="1200" b="1" dirty="0">
                          <a:solidFill>
                            <a:srgbClr val="D96B43"/>
                          </a:solidFill>
                          <a:latin typeface="Arial"/>
                          <a:hlinkClick r:id="rId3"/>
                        </a:rPr>
                        <a:t>Dalal et al. (2022)
</a:t>
                      </a:r>
                      <a:r>
                        <a:rPr sz="1200" b="1" dirty="0">
                          <a:solidFill>
                            <a:srgbClr val="1E40AF"/>
                          </a:solidFill>
                          <a:latin typeface="Arial"/>
                          <a:hlinkClick r:id="rId3"/>
                        </a:rPr>
                        <a:t>[Open IEEE Paper]</a:t>
                      </a:r>
                    </a:p>
                  </a:txBody>
                  <a:tcPr marL="109728" anchor="ctr">
                    <a:solidFill>
                      <a:srgbClr val="FFFFFF"/>
                    </a:solidFill>
                  </a:tcPr>
                </a:tc>
                <a:tc>
                  <a:txBody>
                    <a:bodyPr/>
                    <a:lstStyle/>
                    <a:p>
                      <a:r>
                        <a:rPr sz="1200">
                          <a:solidFill>
                            <a:srgbClr val="1A1A1A"/>
                          </a:solidFill>
                          <a:latin typeface="Arial"/>
                        </a:rPr>
                        <a:t>IEEE Access (2022)
• Systematic survey of Opportunistic Routing (OR)
• Candidate forwarder selection</a:t>
                      </a:r>
                    </a:p>
                  </a:txBody>
                  <a:tcPr marL="109728" anchor="ctr">
                    <a:solidFill>
                      <a:srgbClr val="FFFFFF"/>
                    </a:solidFill>
                  </a:tcPr>
                </a:tc>
                <a:tc>
                  <a:txBody>
                    <a:bodyPr/>
                    <a:lstStyle/>
                    <a:p>
                      <a:r>
                        <a:rPr sz="1200">
                          <a:solidFill>
                            <a:srgbClr val="475569"/>
                          </a:solidFill>
                          <a:latin typeface="Arial"/>
                        </a:rPr>
                        <a:t>• Classified energy-aware candidate forwarding to bypass routing voids in disaster zones.</a:t>
                      </a:r>
                    </a:p>
                  </a:txBody>
                  <a:tcPr marL="109728" anchor="ctr">
                    <a:solidFill>
                      <a:srgbClr val="FFFFFF"/>
                    </a:solidFill>
                  </a:tcPr>
                </a:tc>
                <a:tc>
                  <a:txBody>
                    <a:bodyPr/>
                    <a:lstStyle/>
                    <a:p>
                      <a:r>
                        <a:rPr sz="1200" b="1">
                          <a:solidFill>
                            <a:srgbClr val="991B1B"/>
                          </a:solidFill>
                          <a:latin typeface="Arial"/>
                        </a:rPr>
                        <a:t>• Assumes homogeneous peer trust
• No role-based QoS emergency preemption</a:t>
                      </a:r>
                    </a:p>
                  </a:txBody>
                  <a:tcPr marL="109728" anchor="ctr">
                    <a:solidFill>
                      <a:srgbClr val="FFFFFF"/>
                    </a:solidFill>
                  </a:tcPr>
                </a:tc>
                <a:extLst>
                  <a:ext uri="{0D108BD9-81ED-4DB2-BD59-A6C34878D82A}">
                    <a16:rowId xmlns:a16="http://schemas.microsoft.com/office/drawing/2014/main" val="10002"/>
                  </a:ext>
                </a:extLst>
              </a:tr>
              <a:tr h="976580">
                <a:tc>
                  <a:txBody>
                    <a:bodyPr/>
                    <a:lstStyle/>
                    <a:p>
                      <a:r>
                        <a:rPr sz="1200" b="1" dirty="0">
                          <a:solidFill>
                            <a:srgbClr val="D96B43"/>
                          </a:solidFill>
                          <a:latin typeface="Arial"/>
                          <a:hlinkClick r:id="rId4"/>
                        </a:rPr>
                        <a:t>Al-</a:t>
                      </a:r>
                      <a:r>
                        <a:rPr sz="1200" b="1" dirty="0" err="1">
                          <a:solidFill>
                            <a:srgbClr val="D96B43"/>
                          </a:solidFill>
                          <a:latin typeface="Arial"/>
                          <a:hlinkClick r:id="rId4"/>
                        </a:rPr>
                        <a:t>Kashoash</a:t>
                      </a:r>
                      <a:r>
                        <a:rPr sz="1200" b="1" dirty="0">
                          <a:solidFill>
                            <a:srgbClr val="D96B43"/>
                          </a:solidFill>
                          <a:latin typeface="Arial"/>
                          <a:hlinkClick r:id="rId4"/>
                        </a:rPr>
                        <a:t> et al. (2019)
</a:t>
                      </a:r>
                      <a:r>
                        <a:rPr sz="1200" b="1" dirty="0">
                          <a:solidFill>
                            <a:srgbClr val="1E40AF"/>
                          </a:solidFill>
                          <a:latin typeface="Arial"/>
                          <a:hlinkClick r:id="rId4"/>
                        </a:rPr>
                        <a:t>[Open IEEE Paper]</a:t>
                      </a:r>
                    </a:p>
                  </a:txBody>
                  <a:tcPr marL="109728" anchor="ctr">
                    <a:solidFill>
                      <a:srgbClr val="F5ECE3"/>
                    </a:solidFill>
                  </a:tcPr>
                </a:tc>
                <a:tc>
                  <a:txBody>
                    <a:bodyPr/>
                    <a:lstStyle/>
                    <a:p>
                      <a:r>
                        <a:rPr sz="1200">
                          <a:solidFill>
                            <a:srgbClr val="1A1A1A"/>
                          </a:solidFill>
                          <a:latin typeface="Arial"/>
                        </a:rPr>
                        <a:t>IEEE IoT Journal (2019)
• Congestion &amp; buffer management
• Dynamic threshold control</a:t>
                      </a:r>
                    </a:p>
                  </a:txBody>
                  <a:tcPr marL="109728" anchor="ctr">
                    <a:solidFill>
                      <a:srgbClr val="F5ECE3"/>
                    </a:solidFill>
                  </a:tcPr>
                </a:tc>
                <a:tc>
                  <a:txBody>
                    <a:bodyPr/>
                    <a:lstStyle/>
                    <a:p>
                      <a:r>
                        <a:rPr sz="1200">
                          <a:solidFill>
                            <a:srgbClr val="475569"/>
                          </a:solidFill>
                          <a:latin typeface="Arial"/>
                        </a:rPr>
                        <a:t>• Proved adaptive buffer thresholds prevent packet drops during heavy multi-hop bursts.</a:t>
                      </a:r>
                    </a:p>
                  </a:txBody>
                  <a:tcPr marL="109728" anchor="ctr">
                    <a:solidFill>
                      <a:srgbClr val="F5ECE3"/>
                    </a:solidFill>
                  </a:tcPr>
                </a:tc>
                <a:tc>
                  <a:txBody>
                    <a:bodyPr/>
                    <a:lstStyle/>
                    <a:p>
                      <a:r>
                        <a:rPr sz="1200" b="1">
                          <a:solidFill>
                            <a:srgbClr val="991B1B"/>
                          </a:solidFill>
                          <a:latin typeface="Arial"/>
                        </a:rPr>
                        <a:t>• Evaluated only on static sensors
• Lacks mobile discovery &amp; campus hierarchy</a:t>
                      </a:r>
                    </a:p>
                  </a:txBody>
                  <a:tcPr marL="109728" anchor="ctr">
                    <a:solidFill>
                      <a:srgbClr val="F5ECE3"/>
                    </a:solidFill>
                  </a:tcPr>
                </a:tc>
                <a:extLst>
                  <a:ext uri="{0D108BD9-81ED-4DB2-BD59-A6C34878D82A}">
                    <a16:rowId xmlns:a16="http://schemas.microsoft.com/office/drawing/2014/main" val="10003"/>
                  </a:ext>
                </a:extLst>
              </a:tr>
              <a:tr h="976580">
                <a:tc>
                  <a:txBody>
                    <a:bodyPr/>
                    <a:lstStyle/>
                    <a:p>
                      <a:r>
                        <a:rPr sz="1200" b="1" dirty="0">
                          <a:solidFill>
                            <a:srgbClr val="D96B43"/>
                          </a:solidFill>
                          <a:latin typeface="Arial"/>
                          <a:hlinkClick r:id="rId5"/>
                        </a:rPr>
                        <a:t>Asghar et al. (2018)
</a:t>
                      </a:r>
                      <a:r>
                        <a:rPr sz="1200" b="1" dirty="0">
                          <a:solidFill>
                            <a:srgbClr val="1E40AF"/>
                          </a:solidFill>
                          <a:latin typeface="Arial"/>
                          <a:hlinkClick r:id="rId5"/>
                        </a:rPr>
                        <a:t>[Open IEEE Paper]</a:t>
                      </a:r>
                    </a:p>
                  </a:txBody>
                  <a:tcPr marL="109728" anchor="ctr">
                    <a:solidFill>
                      <a:srgbClr val="FFFFFF"/>
                    </a:solidFill>
                  </a:tcPr>
                </a:tc>
                <a:tc>
                  <a:txBody>
                    <a:bodyPr/>
                    <a:lstStyle/>
                    <a:p>
                      <a:r>
                        <a:rPr sz="1200">
                          <a:solidFill>
                            <a:srgbClr val="1A1A1A"/>
                          </a:solidFill>
                          <a:latin typeface="Arial"/>
                        </a:rPr>
                        <a:t>IEEE Access (2018)
• Delay-Tolerant Networks (DTN)
• Store-carry-forward routing</a:t>
                      </a:r>
                    </a:p>
                  </a:txBody>
                  <a:tcPr marL="109728" anchor="ctr">
                    <a:solidFill>
                      <a:srgbClr val="FFFFFF"/>
                    </a:solidFill>
                  </a:tcPr>
                </a:tc>
                <a:tc>
                  <a:txBody>
                    <a:bodyPr/>
                    <a:lstStyle/>
                    <a:p>
                      <a:r>
                        <a:rPr sz="1200">
                          <a:solidFill>
                            <a:srgbClr val="475569"/>
                          </a:solidFill>
                          <a:latin typeface="Arial"/>
                        </a:rPr>
                        <a:t>• Verified multi-hop message delivery across mobile nodes during total grid blackouts.</a:t>
                      </a:r>
                    </a:p>
                  </a:txBody>
                  <a:tcPr marL="109728" anchor="ctr">
                    <a:solidFill>
                      <a:srgbClr val="FFFFFF"/>
                    </a:solidFill>
                  </a:tcPr>
                </a:tc>
                <a:tc>
                  <a:txBody>
                    <a:bodyPr/>
                    <a:lstStyle/>
                    <a:p>
                      <a:r>
                        <a:rPr sz="1200" b="1" dirty="0">
                          <a:solidFill>
                            <a:srgbClr val="991B1B"/>
                          </a:solidFill>
                          <a:latin typeface="Arial"/>
                        </a:rPr>
                        <a:t>• Relies on random opportunistic encounters
• Lacks cryptographic verification against spoofing</a:t>
                      </a:r>
                    </a:p>
                  </a:txBody>
                  <a:tcPr marL="109728"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05  |  CRITICAL AUDIT OF CONTEMPORARY SOLUTIONS</a:t>
            </a:r>
          </a:p>
          <a:p>
            <a:pPr>
              <a:spcBef>
                <a:spcPts val="300"/>
              </a:spcBef>
            </a:pPr>
            <a:r>
              <a:rPr sz="2600" b="1">
                <a:solidFill>
                  <a:srgbClr val="1A1A1A"/>
                </a:solidFill>
                <a:latin typeface="Arial"/>
              </a:rPr>
              <a:t>EXISTING SYSTEM: DETAILED PROJECT ANALYSIS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8 of 15</a:t>
            </a:r>
          </a:p>
        </p:txBody>
      </p:sp>
      <p:sp>
        <p:nvSpPr>
          <p:cNvPr id="7" name="TextBox 6"/>
          <p:cNvSpPr txBox="1"/>
          <p:nvPr/>
        </p:nvSpPr>
        <p:spPr>
          <a:xfrm>
            <a:off x="731520" y="1600200"/>
            <a:ext cx="6858000" cy="4617720"/>
          </a:xfrm>
          <a:prstGeom prst="rect">
            <a:avLst/>
          </a:prstGeom>
          <a:noFill/>
        </p:spPr>
        <p:txBody>
          <a:bodyPr wrap="square" lIns="0" tIns="0">
            <a:spAutoFit/>
          </a:bodyPr>
          <a:lstStyle/>
          <a:p>
            <a:r>
              <a:rPr sz="1500" b="1" dirty="0">
                <a:solidFill>
                  <a:srgbClr val="1A1A1A"/>
                </a:solidFill>
                <a:latin typeface="Arial"/>
              </a:rPr>
              <a:t>01. Commercial Centralized Platforms (WhatsApp, Telegram, College ERP):
</a:t>
            </a:r>
            <a:r>
              <a:rPr sz="1500" dirty="0">
                <a:solidFill>
                  <a:srgbClr val="475569"/>
                </a:solidFill>
                <a:latin typeface="Arial"/>
              </a:rPr>
              <a:t>• Architecture: Client-server routing dependent on remote cloud servers (AWS/Azure) and 4G/5G cell towers.
• Crisis Deficit: 100% external dependency. When cyclones or power failures hit, total campus blackout occurs with zero offline relay capability.</a:t>
            </a:r>
          </a:p>
          <a:p>
            <a:pPr>
              <a:spcBef>
                <a:spcPts val="800"/>
              </a:spcBef>
            </a:pPr>
            <a:r>
              <a:rPr sz="1500" b="1" dirty="0">
                <a:solidFill>
                  <a:srgbClr val="1A1A1A"/>
                </a:solidFill>
                <a:latin typeface="Arial"/>
              </a:rPr>
              <a:t>02. Consumer Ad-Hoc Mesh Apps (</a:t>
            </a:r>
            <a:r>
              <a:rPr sz="1500" b="1" dirty="0" err="1">
                <a:solidFill>
                  <a:srgbClr val="1A1A1A"/>
                </a:solidFill>
                <a:latin typeface="Arial"/>
              </a:rPr>
              <a:t>Bridgefy</a:t>
            </a:r>
            <a:r>
              <a:rPr sz="1500" b="1" dirty="0">
                <a:solidFill>
                  <a:srgbClr val="1A1A1A"/>
                </a:solidFill>
                <a:latin typeface="Arial"/>
              </a:rPr>
              <a:t>, </a:t>
            </a:r>
            <a:r>
              <a:rPr sz="1500" b="1" dirty="0" err="1">
                <a:solidFill>
                  <a:srgbClr val="1A1A1A"/>
                </a:solidFill>
                <a:latin typeface="Arial"/>
              </a:rPr>
              <a:t>FireChat</a:t>
            </a:r>
            <a:r>
              <a:rPr sz="1500" b="1" dirty="0">
                <a:solidFill>
                  <a:srgbClr val="1A1A1A"/>
                </a:solidFill>
                <a:latin typeface="Arial"/>
              </a:rPr>
              <a:t>, Briar):
</a:t>
            </a:r>
            <a:r>
              <a:rPr sz="1500" dirty="0">
                <a:solidFill>
                  <a:srgbClr val="475569"/>
                </a:solidFill>
                <a:latin typeface="Arial"/>
              </a:rPr>
              <a:t>• Architecture: Multi-hop peer-to-peer flooding across mobile phones over standard BLE or Wi-Fi Direct.
• Crisis Deficit: Blind flooding causes crippling broadcast storms (&gt;70% packet drop in crowds); lacks institutional roles and offline authentication.</a:t>
            </a:r>
          </a:p>
          <a:p>
            <a:pPr>
              <a:spcBef>
                <a:spcPts val="800"/>
              </a:spcBef>
            </a:pPr>
            <a:r>
              <a:rPr sz="1500" b="1" dirty="0">
                <a:solidFill>
                  <a:srgbClr val="1A1A1A"/>
                </a:solidFill>
                <a:latin typeface="Arial"/>
              </a:rPr>
              <a:t>03. Specialized Hardware DTN Solutions (The Serval Project, goTenna Mesh):
</a:t>
            </a:r>
            <a:r>
              <a:rPr sz="1500" dirty="0">
                <a:solidFill>
                  <a:srgbClr val="475569"/>
                </a:solidFill>
                <a:latin typeface="Arial"/>
              </a:rPr>
              <a:t>• Architecture: Relies on external proprietary VHF/UHF radio dongles or rooted Android firmware.
• Crisis Deficit: Cost-prohibitive for thousands of students; very low throughput (&lt;5 kbps) and incompatible with standard smartphones.</a:t>
            </a:r>
          </a:p>
        </p:txBody>
      </p:sp>
      <p:sp>
        <p:nvSpPr>
          <p:cNvPr id="8" name="Rounded Rectangle 7"/>
          <p:cNvSpPr/>
          <p:nvPr/>
        </p:nvSpPr>
        <p:spPr>
          <a:xfrm>
            <a:off x="7863840" y="1600200"/>
            <a:ext cx="3566160" cy="4617720"/>
          </a:xfrm>
          <a:prstGeom prst="roundRect">
            <a:avLst/>
          </a:prstGeom>
          <a:solidFill>
            <a:srgbClr val="F5ECE3"/>
          </a:solidFill>
          <a:ln w="19050">
            <a:solidFill>
              <a:srgbClr val="E2D4C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00" b="1" dirty="0">
                <a:solidFill>
                  <a:srgbClr val="D96B43"/>
                </a:solidFill>
                <a:latin typeface="Arial"/>
              </a:rPr>
              <a:t>THE UNMET CAMPUS VACUUM</a:t>
            </a:r>
          </a:p>
          <a:p>
            <a:pPr>
              <a:spcBef>
                <a:spcPts val="800"/>
              </a:spcBef>
            </a:pPr>
            <a:r>
              <a:rPr sz="1350" b="1" dirty="0">
                <a:solidFill>
                  <a:srgbClr val="1A1A1A"/>
                </a:solidFill>
                <a:latin typeface="Arial"/>
              </a:rPr>
              <a:t>"NO EXISTING APP MEETS CAMPUS NEEDS"
</a:t>
            </a:r>
          </a:p>
          <a:p>
            <a:pPr>
              <a:spcBef>
                <a:spcPts val="500"/>
              </a:spcBef>
            </a:pPr>
            <a:r>
              <a:rPr sz="1200" b="1" dirty="0">
                <a:solidFill>
                  <a:srgbClr val="1A1A1A"/>
                </a:solidFill>
                <a:latin typeface="Arial"/>
              </a:rPr>
              <a:t>- Market Dichotomy:
</a:t>
            </a:r>
            <a:r>
              <a:rPr sz="1050" dirty="0">
                <a:solidFill>
                  <a:srgbClr val="475569"/>
                </a:solidFill>
                <a:latin typeface="Arial"/>
              </a:rPr>
              <a:t>  Apps are either 100% cloud-dependent (WhatsApp) or unauthenticated civilian toys (</a:t>
            </a:r>
            <a:r>
              <a:rPr sz="1050" dirty="0" err="1">
                <a:solidFill>
                  <a:srgbClr val="475569"/>
                </a:solidFill>
                <a:latin typeface="Arial"/>
              </a:rPr>
              <a:t>Bridgefy</a:t>
            </a:r>
            <a:r>
              <a:rPr sz="1050" dirty="0">
                <a:solidFill>
                  <a:srgbClr val="475569"/>
                </a:solidFill>
                <a:latin typeface="Arial"/>
              </a:rPr>
              <a:t>).</a:t>
            </a:r>
          </a:p>
          <a:p>
            <a:pPr>
              <a:spcBef>
                <a:spcPts val="500"/>
              </a:spcBef>
            </a:pPr>
            <a:r>
              <a:rPr sz="1200" b="1" dirty="0">
                <a:solidFill>
                  <a:srgbClr val="1A1A1A"/>
                </a:solidFill>
                <a:latin typeface="Arial"/>
              </a:rPr>
              <a:t>- Zero Administrative Trust:
</a:t>
            </a:r>
            <a:r>
              <a:rPr sz="1050" dirty="0">
                <a:solidFill>
                  <a:srgbClr val="475569"/>
                </a:solidFill>
                <a:latin typeface="Arial"/>
              </a:rPr>
              <a:t>  No existing offline app can cryptographically prove faculty or emergency staff identity.</a:t>
            </a:r>
          </a:p>
          <a:p>
            <a:pPr>
              <a:spcBef>
                <a:spcPts val="500"/>
              </a:spcBef>
            </a:pPr>
            <a:r>
              <a:rPr sz="1200" b="1" dirty="0">
                <a:solidFill>
                  <a:srgbClr val="1A1A1A"/>
                </a:solidFill>
                <a:latin typeface="Arial"/>
              </a:rPr>
              <a:t>- Packet Collapse:
</a:t>
            </a:r>
            <a:r>
              <a:rPr sz="1050" dirty="0">
                <a:solidFill>
                  <a:srgbClr val="475569"/>
                </a:solidFill>
                <a:latin typeface="Arial"/>
              </a:rPr>
              <a:t>  Unregulated flooding guarantees channel congestion in student hostels and lecture halls.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06  |  FIG. 1: ARCHITECTURAL COMPARISON</a:t>
            </a:r>
          </a:p>
          <a:p>
            <a:pPr>
              <a:spcBef>
                <a:spcPts val="300"/>
              </a:spcBef>
            </a:pPr>
            <a:r>
              <a:rPr sz="2600" b="1">
                <a:solidFill>
                  <a:srgbClr val="1A1A1A"/>
                </a:solidFill>
                <a:latin typeface="Arial"/>
              </a:rPr>
              <a:t>EXISTING SYSTEM ARCHITECTURE &amp; FAILURE MODES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9 of 15</a:t>
            </a:r>
          </a:p>
        </p:txBody>
      </p:sp>
      <p:pic>
        <p:nvPicPr>
          <p:cNvPr id="7" name="Picture 6" descr="existing_system_architecture_editorial.png"/>
          <p:cNvPicPr>
            <a:picLocks noChangeAspect="1"/>
          </p:cNvPicPr>
          <p:nvPr/>
        </p:nvPicPr>
        <p:blipFill>
          <a:blip r:embed="rId2"/>
          <a:srcRect t="10211"/>
          <a:stretch>
            <a:fillRect/>
          </a:stretch>
        </p:blipFill>
        <p:spPr>
          <a:xfrm>
            <a:off x="731520" y="1152144"/>
            <a:ext cx="10728655" cy="51572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07  |  SYSTEMIC BREAKDOWN IN CAMPUS CRISES</a:t>
            </a:r>
          </a:p>
          <a:p>
            <a:pPr>
              <a:spcBef>
                <a:spcPts val="300"/>
              </a:spcBef>
            </a:pPr>
            <a:r>
              <a:rPr sz="2600" b="1">
                <a:solidFill>
                  <a:srgbClr val="1A1A1A"/>
                </a:solidFill>
                <a:latin typeface="Arial"/>
              </a:rPr>
              <a:t>DRAWBACKS OF EXISTING SYSTEM</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10 of 15</a:t>
            </a:r>
          </a:p>
        </p:txBody>
      </p:sp>
      <p:sp>
        <p:nvSpPr>
          <p:cNvPr id="7" name="TextBox 6"/>
          <p:cNvSpPr txBox="1"/>
          <p:nvPr/>
        </p:nvSpPr>
        <p:spPr>
          <a:xfrm>
            <a:off x="731520" y="1600200"/>
            <a:ext cx="6858000" cy="4416594"/>
          </a:xfrm>
          <a:prstGeom prst="rect">
            <a:avLst/>
          </a:prstGeom>
          <a:noFill/>
        </p:spPr>
        <p:txBody>
          <a:bodyPr wrap="square" lIns="0" tIns="0">
            <a:spAutoFit/>
          </a:bodyPr>
          <a:lstStyle/>
          <a:p>
            <a:r>
              <a:rPr sz="1300" b="1" dirty="0">
                <a:solidFill>
                  <a:srgbClr val="1A1A1A"/>
                </a:solidFill>
                <a:latin typeface="Arial"/>
              </a:rPr>
              <a:t>01. Catastrophic Single Point of Failure (SPOF):
</a:t>
            </a:r>
            <a:r>
              <a:rPr sz="1300" dirty="0">
                <a:solidFill>
                  <a:srgbClr val="475569"/>
                </a:solidFill>
                <a:latin typeface="Arial"/>
              </a:rPr>
              <a:t>   Total dependence on external cellular towers and power grids causes instant campus communication collapse during disasters.</a:t>
            </a:r>
          </a:p>
          <a:p>
            <a:pPr>
              <a:spcBef>
                <a:spcPts val="600"/>
              </a:spcBef>
            </a:pPr>
            <a:r>
              <a:rPr sz="1300" b="1" dirty="0">
                <a:solidFill>
                  <a:srgbClr val="1A1A1A"/>
                </a:solidFill>
                <a:latin typeface="Arial"/>
              </a:rPr>
              <a:t>02. Lack of Campus Disaster Management &amp; Evacuation Logic:
</a:t>
            </a:r>
            <a:r>
              <a:rPr sz="1300" dirty="0">
                <a:solidFill>
                  <a:srgbClr val="475569"/>
                </a:solidFill>
                <a:latin typeface="Arial"/>
              </a:rPr>
              <a:t>   Zero native support for offline triage protocols, emergency muster verification, or localized evacuation directives.</a:t>
            </a:r>
          </a:p>
          <a:p>
            <a:pPr>
              <a:spcBef>
                <a:spcPts val="600"/>
              </a:spcBef>
            </a:pPr>
            <a:r>
              <a:rPr sz="1300" b="1" dirty="0">
                <a:solidFill>
                  <a:srgbClr val="1A1A1A"/>
                </a:solidFill>
                <a:latin typeface="Arial"/>
              </a:rPr>
              <a:t>03. Devastating Broadcast Storms in Dense Student Clusters:
</a:t>
            </a:r>
            <a:r>
              <a:rPr sz="1300" dirty="0">
                <a:solidFill>
                  <a:srgbClr val="475569"/>
                </a:solidFill>
                <a:latin typeface="Arial"/>
              </a:rPr>
              <a:t>   Blind peer-to-peer rebroadcasts generate exponential radio packet collisions (&gt;70% packet drop) in crowded halls.</a:t>
            </a:r>
          </a:p>
          <a:p>
            <a:pPr>
              <a:spcBef>
                <a:spcPts val="600"/>
              </a:spcBef>
            </a:pPr>
            <a:r>
              <a:rPr sz="1300" b="1" dirty="0">
                <a:solidFill>
                  <a:srgbClr val="1A1A1A"/>
                </a:solidFill>
                <a:latin typeface="Arial"/>
              </a:rPr>
              <a:t>04. Complete Absence of Organizational Role Hierarchy:
</a:t>
            </a:r>
            <a:r>
              <a:rPr sz="1300" dirty="0">
                <a:solidFill>
                  <a:srgbClr val="475569"/>
                </a:solidFill>
                <a:latin typeface="Arial"/>
              </a:rPr>
              <a:t>   Anonymous peer networking allows unauthenticated users to broadcast panic-inducing rumors with no faculty verification.</a:t>
            </a:r>
          </a:p>
          <a:p>
            <a:pPr>
              <a:spcBef>
                <a:spcPts val="600"/>
              </a:spcBef>
            </a:pPr>
            <a:r>
              <a:rPr sz="1300" b="1" dirty="0">
                <a:solidFill>
                  <a:srgbClr val="1A1A1A"/>
                </a:solidFill>
                <a:latin typeface="Arial"/>
              </a:rPr>
              <a:t>05. Best-Effort FIFO Latency Delaying Life-Saving SOS:
</a:t>
            </a:r>
            <a:r>
              <a:rPr sz="1300" dirty="0">
                <a:solidFill>
                  <a:srgbClr val="475569"/>
                </a:solidFill>
                <a:latin typeface="Arial"/>
              </a:rPr>
              <a:t>   Unprioritized first-in, first-out buffers trap critical medical distress beacons behind casual peer chit-chat.</a:t>
            </a:r>
          </a:p>
          <a:p>
            <a:pPr>
              <a:spcBef>
                <a:spcPts val="600"/>
              </a:spcBef>
            </a:pPr>
            <a:r>
              <a:rPr sz="1300" b="1" dirty="0">
                <a:solidFill>
                  <a:srgbClr val="1A1A1A"/>
                </a:solidFill>
                <a:latin typeface="Arial"/>
              </a:rPr>
              <a:t>06. Zero-Trust Security Vulnerabilities &amp; Severe Battery Drain:
</a:t>
            </a:r>
            <a:r>
              <a:rPr sz="1300" dirty="0">
                <a:solidFill>
                  <a:srgbClr val="475569"/>
                </a:solidFill>
                <a:latin typeface="Arial"/>
              </a:rPr>
              <a:t>   Cleartext multi-hop relaying invites packet interception, while unthrottled radio scanning drains batteries in 2-3 hours.</a:t>
            </a:r>
          </a:p>
        </p:txBody>
      </p:sp>
      <p:sp>
        <p:nvSpPr>
          <p:cNvPr id="8" name="Rounded Rectangle 7"/>
          <p:cNvSpPr/>
          <p:nvPr/>
        </p:nvSpPr>
        <p:spPr>
          <a:xfrm>
            <a:off x="7863840" y="1600200"/>
            <a:ext cx="3566160" cy="4617720"/>
          </a:xfrm>
          <a:prstGeom prst="roundRect">
            <a:avLst/>
          </a:prstGeom>
          <a:solidFill>
            <a:srgbClr val="FEF2F2"/>
          </a:solidFill>
          <a:ln w="22860">
            <a:solidFill>
              <a:srgbClr val="EF4444"/>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300" b="1" dirty="0">
                <a:solidFill>
                  <a:srgbClr val="EF4444"/>
                </a:solidFill>
                <a:latin typeface="Arial"/>
              </a:rPr>
              <a:t>CRITICAL AUDIT VERDICT</a:t>
            </a:r>
          </a:p>
          <a:p>
            <a:pPr>
              <a:spcBef>
                <a:spcPts val="800"/>
              </a:spcBef>
            </a:pPr>
            <a:r>
              <a:rPr sz="1300" b="1" dirty="0">
                <a:solidFill>
                  <a:srgbClr val="991B1B"/>
                </a:solidFill>
                <a:latin typeface="Arial"/>
              </a:rPr>
              <a:t>"CURRENT TOOLS ARE INSUFFICIENT"
</a:t>
            </a:r>
          </a:p>
          <a:p>
            <a:pPr>
              <a:spcBef>
                <a:spcPts val="500"/>
              </a:spcBef>
            </a:pPr>
            <a:r>
              <a:rPr sz="1300" b="1" dirty="0">
                <a:solidFill>
                  <a:srgbClr val="1A1A1A"/>
                </a:solidFill>
                <a:latin typeface="Arial"/>
              </a:rPr>
              <a:t>- [X] Centralized Apps:
</a:t>
            </a:r>
            <a:r>
              <a:rPr sz="1300" dirty="0">
                <a:solidFill>
                  <a:srgbClr val="7F1D1D"/>
                </a:solidFill>
                <a:latin typeface="Arial"/>
              </a:rPr>
              <a:t>     Fail completely when the physical electrical/cellular grid loses power.</a:t>
            </a:r>
          </a:p>
          <a:p>
            <a:pPr>
              <a:spcBef>
                <a:spcPts val="500"/>
              </a:spcBef>
            </a:pPr>
            <a:r>
              <a:rPr sz="1300" b="1" dirty="0">
                <a:solidFill>
                  <a:srgbClr val="1A1A1A"/>
                </a:solidFill>
                <a:latin typeface="Arial"/>
              </a:rPr>
              <a:t>- [X] Civilian Ad-Hoc Apps:
</a:t>
            </a:r>
            <a:r>
              <a:rPr sz="1300" dirty="0">
                <a:solidFill>
                  <a:srgbClr val="7F1D1D"/>
                </a:solidFill>
                <a:latin typeface="Arial"/>
              </a:rPr>
              <a:t>     Fail completely in dense student populations due to RF broadcast storms.</a:t>
            </a:r>
          </a:p>
          <a:p>
            <a:pPr>
              <a:spcBef>
                <a:spcPts val="500"/>
              </a:spcBef>
            </a:pPr>
            <a:r>
              <a:rPr sz="1300" b="1" dirty="0">
                <a:solidFill>
                  <a:srgbClr val="1A1A1A"/>
                </a:solidFill>
                <a:latin typeface="Arial"/>
              </a:rPr>
              <a:t>- [X] Organizational Need:
</a:t>
            </a:r>
            <a:r>
              <a:rPr sz="1300" dirty="0">
                <a:solidFill>
                  <a:srgbClr val="7F1D1D"/>
                </a:solidFill>
                <a:latin typeface="Arial"/>
              </a:rPr>
              <a:t>     Campuses require both infrastructure independence AND strict institutional authority.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lIns="731520" rtlCol="0" anchor="ctr"/>
          <a:lstStyle/>
          <a:p>
            <a:pPr algn="ctr"/>
            <a:r>
              <a:rPr sz="950" b="1" dirty="0">
                <a:solidFill>
                  <a:srgbClr val="E2E8F0"/>
                </a:solidFill>
                <a:latin typeface="Arial"/>
              </a:rPr>
              <a:t>ANIL NEERUKONDA INSTITUTE OF TECHNOLOGY &amp; SCIENCES (ANITS)  |  DEPT. OF CS</a:t>
            </a:r>
            <a:r>
              <a:rPr lang="en-US" sz="950" b="1" dirty="0">
                <a:solidFill>
                  <a:srgbClr val="E2E8F0"/>
                </a:solidFill>
                <a:latin typeface="Arial"/>
              </a:rPr>
              <a:t>D</a:t>
            </a:r>
            <a:r>
              <a:rPr sz="900" dirty="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08  |  NOVEL CAMPUS ARCHITECTURE &amp; SOLUTIONS</a:t>
            </a:r>
          </a:p>
          <a:p>
            <a:pPr>
              <a:spcBef>
                <a:spcPts val="300"/>
              </a:spcBef>
            </a:pPr>
            <a:r>
              <a:rPr sz="2600" b="1">
                <a:solidFill>
                  <a:srgbClr val="1A1A1A"/>
                </a:solidFill>
                <a:latin typeface="Arial"/>
              </a:rPr>
              <a:t>PROPOSED SYSTEM: OVERCOMING EXISTING LIMITATIONS</a:t>
            </a:r>
          </a:p>
        </p:txBody>
      </p:sp>
      <p:sp>
        <p:nvSpPr>
          <p:cNvPr id="5" name="Rectangle 4"/>
          <p:cNvSpPr/>
          <p:nvPr/>
        </p:nvSpPr>
        <p:spPr>
          <a:xfrm>
            <a:off x="731520" y="1508760"/>
            <a:ext cx="164592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0"/>
            <a:ext cx="10698480" cy="320040"/>
          </a:xfrm>
          <a:prstGeom prst="rect">
            <a:avLst/>
          </a:prstGeom>
          <a:noFill/>
        </p:spPr>
        <p:txBody>
          <a:bodyPr wrap="none" lIns="0">
            <a:spAutoFit/>
          </a:bodyPr>
          <a:lstStyle/>
          <a:p>
            <a:r>
              <a:rPr sz="900">
                <a:solidFill>
                  <a:srgbClr val="64748B"/>
                </a:solidFill>
                <a:latin typeface="Arial"/>
              </a:rPr>
              <a:t>ANITS B.Tech Final Year Project Review (2025-2026)  |  Team 12</a:t>
            </a:r>
            <a:r>
              <a:rPr sz="950" b="1">
                <a:solidFill>
                  <a:srgbClr val="1A1A1A"/>
                </a:solidFill>
                <a:latin typeface="Arial"/>
              </a:rPr>
              <a:t>                                                                                                                  Page 11 of 15</a:t>
            </a:r>
          </a:p>
        </p:txBody>
      </p:sp>
      <p:sp>
        <p:nvSpPr>
          <p:cNvPr id="7" name="TextBox 6"/>
          <p:cNvSpPr txBox="1"/>
          <p:nvPr/>
        </p:nvSpPr>
        <p:spPr>
          <a:xfrm>
            <a:off x="731520" y="1600200"/>
            <a:ext cx="6858000" cy="4688463"/>
          </a:xfrm>
          <a:prstGeom prst="rect">
            <a:avLst/>
          </a:prstGeom>
          <a:noFill/>
        </p:spPr>
        <p:txBody>
          <a:bodyPr wrap="square" lIns="0" tIns="0">
            <a:spAutoFit/>
          </a:bodyPr>
          <a:lstStyle/>
          <a:p>
            <a:r>
              <a:rPr sz="1500" b="1" dirty="0">
                <a:solidFill>
                  <a:srgbClr val="1A1A1A"/>
                </a:solidFill>
                <a:latin typeface="Arial"/>
              </a:rPr>
              <a:t>01. First-Ever Organizational Decentralized Mesh Architecture:
</a:t>
            </a:r>
            <a:r>
              <a:rPr sz="1500" dirty="0">
                <a:solidFill>
                  <a:srgbClr val="475569"/>
                </a:solidFill>
                <a:latin typeface="Arial"/>
              </a:rPr>
              <a:t>   • Bridges the market vacuum with the first offline fabric designed specifically for verified university campus roles and institutional hierarchy.</a:t>
            </a:r>
          </a:p>
          <a:p>
            <a:pPr>
              <a:spcBef>
                <a:spcPts val="700"/>
              </a:spcBef>
            </a:pPr>
            <a:r>
              <a:rPr sz="1500" b="1" dirty="0">
                <a:solidFill>
                  <a:srgbClr val="1A1A1A"/>
                </a:solidFill>
                <a:latin typeface="Arial"/>
              </a:rPr>
              <a:t>02. 100% Infrastructure-Independent Edge Communication (Zero SPOF):
</a:t>
            </a:r>
            <a:r>
              <a:rPr sz="1500" dirty="0">
                <a:solidFill>
                  <a:srgbClr val="475569"/>
                </a:solidFill>
                <a:latin typeface="Arial"/>
              </a:rPr>
              <a:t>   • Autonomous device-to-device multi-hop routing operates over student smartphones, surviving complete external electrical and cellular collapses.</a:t>
            </a:r>
          </a:p>
          <a:p>
            <a:pPr>
              <a:spcBef>
                <a:spcPts val="700"/>
              </a:spcBef>
            </a:pPr>
            <a:r>
              <a:rPr sz="1500" b="1" dirty="0">
                <a:solidFill>
                  <a:srgbClr val="1A1A1A"/>
                </a:solidFill>
                <a:latin typeface="Arial"/>
              </a:rPr>
              <a:t>03. Dual-Radio Energy Synergy (BLE Discovery + Wi-Fi Aware Transport):
</a:t>
            </a:r>
            <a:r>
              <a:rPr sz="1500" dirty="0">
                <a:solidFill>
                  <a:srgbClr val="475569"/>
                </a:solidFill>
                <a:latin typeface="Arial"/>
              </a:rPr>
              <a:t>   • Low-power BLE maintains continuous background neighbor discovery, elevating dynamically to high-speed Wi-Fi Aware (NAN) for data payloads.</a:t>
            </a:r>
          </a:p>
          <a:p>
            <a:pPr>
              <a:spcBef>
                <a:spcPts val="700"/>
              </a:spcBef>
            </a:pPr>
            <a:r>
              <a:rPr sz="1500" b="1" dirty="0">
                <a:solidFill>
                  <a:srgbClr val="1A1A1A"/>
                </a:solidFill>
                <a:latin typeface="Arial"/>
              </a:rPr>
              <a:t>04. Hybrid Cloud Sync &amp; Offline Cryptographic Trust (PKI):
</a:t>
            </a:r>
            <a:r>
              <a:rPr sz="1500" dirty="0">
                <a:solidFill>
                  <a:srgbClr val="475569"/>
                </a:solidFill>
                <a:latin typeface="Arial"/>
              </a:rPr>
              <a:t>   • Periodically syncs campus public keys to local SQLite cache when online; enables 100% offline verification of faculty announcements via Ed25519 signatures.</a:t>
            </a:r>
          </a:p>
          <a:p>
            <a:pPr>
              <a:spcBef>
                <a:spcPts val="700"/>
              </a:spcBef>
            </a:pPr>
            <a:r>
              <a:rPr sz="1500" b="1" dirty="0">
                <a:solidFill>
                  <a:srgbClr val="1A1A1A"/>
                </a:solidFill>
                <a:latin typeface="Arial"/>
              </a:rPr>
              <a:t>05. Strict Role-Based QoS &amp; Broadcast Storm Suppression:
</a:t>
            </a:r>
            <a:r>
              <a:rPr sz="1500" dirty="0">
                <a:solidFill>
                  <a:srgbClr val="475569"/>
                </a:solidFill>
                <a:latin typeface="Arial"/>
              </a:rPr>
              <a:t>   • High-priority queues ensure life-saving SOS alerts preempt casual traffic; dynamic TTL limits, bloom filters, and sequence caching eliminate storm collisions.</a:t>
            </a:r>
          </a:p>
        </p:txBody>
      </p:sp>
      <p:sp>
        <p:nvSpPr>
          <p:cNvPr id="8" name="Rounded Rectangle 7"/>
          <p:cNvSpPr/>
          <p:nvPr/>
        </p:nvSpPr>
        <p:spPr>
          <a:xfrm>
            <a:off x="7863840" y="1554480"/>
            <a:ext cx="3566160" cy="4709160"/>
          </a:xfrm>
          <a:prstGeom prst="roundRect">
            <a:avLst/>
          </a:prstGeom>
          <a:solidFill>
            <a:srgbClr val="F5ECE3"/>
          </a:solidFill>
          <a:ln w="22860">
            <a:solidFill>
              <a:srgbClr val="D96B43"/>
            </a:solidFill>
          </a:ln>
        </p:spPr>
        <p:style>
          <a:lnRef idx="1">
            <a:schemeClr val="accent1"/>
          </a:lnRef>
          <a:fillRef idx="3">
            <a:schemeClr val="accent1"/>
          </a:fillRef>
          <a:effectRef idx="2">
            <a:schemeClr val="accent1"/>
          </a:effectRef>
          <a:fontRef idx="minor">
            <a:schemeClr val="lt1"/>
          </a:fontRef>
        </p:style>
        <p:txBody>
          <a:bodyPr wrap="square" lIns="320040" tIns="201168" rIns="274320" rtlCol="0" anchor="ctr"/>
          <a:lstStyle/>
          <a:p>
            <a:pPr algn="ctr"/>
            <a:r>
              <a:rPr sz="1250" b="1" dirty="0">
                <a:solidFill>
                  <a:srgbClr val="D96B43"/>
                </a:solidFill>
                <a:latin typeface="Arial"/>
              </a:rPr>
              <a:t>PROJECT NOVELTY &amp; ADVANTAGE</a:t>
            </a:r>
          </a:p>
          <a:p>
            <a:pPr>
              <a:spcBef>
                <a:spcPts val="800"/>
              </a:spcBef>
            </a:pPr>
            <a:r>
              <a:rPr sz="1250" b="1" dirty="0">
                <a:solidFill>
                  <a:srgbClr val="1A1A1A"/>
                </a:solidFill>
                <a:latin typeface="Arial"/>
              </a:rPr>
              <a:t>"BRIDGING THE ACADEMIC GAP"
</a:t>
            </a:r>
          </a:p>
          <a:p>
            <a:pPr>
              <a:spcBef>
                <a:spcPts val="400"/>
              </a:spcBef>
            </a:pPr>
            <a:r>
              <a:rPr sz="1250" b="1" dirty="0">
                <a:solidFill>
                  <a:srgbClr val="1A1A1A"/>
                </a:solidFill>
                <a:latin typeface="Arial"/>
              </a:rPr>
              <a:t>- [✓] Organizational Mesh:
</a:t>
            </a:r>
            <a:r>
              <a:rPr sz="1250" dirty="0">
                <a:solidFill>
                  <a:srgbClr val="475569"/>
                </a:solidFill>
                <a:latin typeface="Arial"/>
              </a:rPr>
              <a:t>     First decentralized mesh built for institutional campus roles.</a:t>
            </a:r>
          </a:p>
          <a:p>
            <a:pPr>
              <a:spcBef>
                <a:spcPts val="400"/>
              </a:spcBef>
            </a:pPr>
            <a:r>
              <a:rPr sz="1250" b="1" dirty="0">
                <a:solidFill>
                  <a:srgbClr val="1A1A1A"/>
                </a:solidFill>
                <a:latin typeface="Arial"/>
              </a:rPr>
              <a:t>- [✓] Zero Hardware Cost:
</a:t>
            </a:r>
            <a:r>
              <a:rPr sz="1250" dirty="0">
                <a:solidFill>
                  <a:srgbClr val="475569"/>
                </a:solidFill>
                <a:latin typeface="Arial"/>
              </a:rPr>
              <a:t>     Runs on standard Android &amp; iOS smartphones already in student pockets.</a:t>
            </a:r>
          </a:p>
          <a:p>
            <a:pPr>
              <a:spcBef>
                <a:spcPts val="400"/>
              </a:spcBef>
            </a:pPr>
            <a:r>
              <a:rPr sz="1250" b="1" dirty="0">
                <a:solidFill>
                  <a:srgbClr val="1A1A1A"/>
                </a:solidFill>
                <a:latin typeface="Arial"/>
              </a:rPr>
              <a:t>- [✓] Guaranteed Emergency QoS:
</a:t>
            </a:r>
            <a:r>
              <a:rPr sz="1250" dirty="0">
                <a:solidFill>
                  <a:srgbClr val="475569"/>
                </a:solidFill>
                <a:latin typeface="Arial"/>
              </a:rPr>
              <a:t>     Life-saving SOS alerts always preempt casual student chatter.</a:t>
            </a:r>
          </a:p>
          <a:p>
            <a:pPr>
              <a:spcBef>
                <a:spcPts val="400"/>
              </a:spcBef>
            </a:pPr>
            <a:r>
              <a:rPr sz="1250" b="1" dirty="0">
                <a:solidFill>
                  <a:srgbClr val="1A1A1A"/>
                </a:solidFill>
                <a:latin typeface="Arial"/>
              </a:rPr>
              <a:t>- [✓] Total Disaster Resilience:
</a:t>
            </a:r>
            <a:r>
              <a:rPr sz="1250" dirty="0">
                <a:solidFill>
                  <a:srgbClr val="475569"/>
                </a:solidFill>
                <a:latin typeface="Arial"/>
              </a:rPr>
              <a:t>     Functions indefinitely when external cellular towers and power collapse.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21CAB8-D8EB-4AD2-4C06-1406779BCF43}"/>
              </a:ext>
            </a:extLst>
          </p:cNvPr>
          <p:cNvSpPr txBox="1"/>
          <p:nvPr/>
        </p:nvSpPr>
        <p:spPr>
          <a:xfrm>
            <a:off x="4195191" y="2998113"/>
            <a:ext cx="3801618" cy="861774"/>
          </a:xfrm>
          <a:prstGeom prst="rect">
            <a:avLst/>
          </a:prstGeom>
          <a:noFill/>
        </p:spPr>
        <p:txBody>
          <a:bodyPr wrap="square">
            <a:spAutoFit/>
          </a:bodyPr>
          <a:lstStyle/>
          <a:p>
            <a:r>
              <a:rPr lang="en-IN" sz="5000" b="1" dirty="0">
                <a:solidFill>
                  <a:srgbClr val="D96B43"/>
                </a:solidFill>
                <a:latin typeface="Arial"/>
              </a:rPr>
              <a:t>THANKYOU</a:t>
            </a:r>
            <a:endParaRPr lang="en-IN" sz="5000" dirty="0"/>
          </a:p>
        </p:txBody>
      </p:sp>
    </p:spTree>
    <p:extLst>
      <p:ext uri="{BB962C8B-B14F-4D97-AF65-F5344CB8AC3E}">
        <p14:creationId xmlns:p14="http://schemas.microsoft.com/office/powerpoint/2010/main" val="527138450"/>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54864"/>
          <a:lstStyle/>
          <a:p>
            <a:pPr algn="ctr"/>
            <a:r>
              <a:rPr sz="950" b="1">
                <a:solidFill>
                  <a:srgbClr val="E2E8F0"/>
                </a:solidFill>
                <a:latin typeface="Arial"/>
              </a:rPr>
              <a:t>ANIL NEERUKONDA INSTITUTE OF TECHNOLOGY &amp; SCIENCES (ANITS)  |  DEPT. OF CSD</a:t>
            </a:r>
            <a:r>
              <a:rPr sz="90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09  |  FIG. 2: WORKFLOW ARCHITECTURE: PERSON-TO-PERSON MESH FLOW</a:t>
            </a:r>
          </a:p>
          <a:p>
            <a:r>
              <a:rPr sz="2400" b="1">
                <a:solidFill>
                  <a:srgbClr val="1A1A1A"/>
                </a:solidFill>
                <a:latin typeface="Arial"/>
              </a:rPr>
              <a:t>CAMPUS DISASTER SOS: HUMAN-TO-HUMAN SMARTPHONE RELAY</a:t>
            </a:r>
          </a:p>
        </p:txBody>
      </p:sp>
      <p:sp>
        <p:nvSpPr>
          <p:cNvPr id="5" name="Rectangle 4"/>
          <p:cNvSpPr/>
          <p:nvPr/>
        </p:nvSpPr>
        <p:spPr>
          <a:xfrm>
            <a:off x="731520" y="1536192"/>
            <a:ext cx="1645920" cy="36576"/>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ram_workflow_mesh.png"/>
          <p:cNvPicPr>
            <a:picLocks noChangeAspect="1"/>
          </p:cNvPicPr>
          <p:nvPr/>
        </p:nvPicPr>
        <p:blipFill>
          <a:blip r:embed="rId2"/>
          <a:stretch>
            <a:fillRect/>
          </a:stretch>
        </p:blipFill>
        <p:spPr>
          <a:xfrm>
            <a:off x="731520" y="1645920"/>
            <a:ext cx="10725912" cy="4617720"/>
          </a:xfrm>
          <a:prstGeom prst="rect">
            <a:avLst/>
          </a:prstGeom>
        </p:spPr>
      </p:pic>
      <p:sp>
        <p:nvSpPr>
          <p:cNvPr id="7" name="TextBox 6"/>
          <p:cNvSpPr txBox="1"/>
          <p:nvPr/>
        </p:nvSpPr>
        <p:spPr>
          <a:xfrm>
            <a:off x="731520" y="6400800"/>
            <a:ext cx="10698480" cy="320040"/>
          </a:xfrm>
          <a:prstGeom prst="rect">
            <a:avLst/>
          </a:prstGeom>
          <a:noFill/>
        </p:spPr>
        <p:txBody>
          <a:bodyPr wrap="square" lIns="0" tIns="0">
            <a:spAutoFit/>
          </a:bodyPr>
          <a:lstStyle/>
          <a:p>
            <a:r>
              <a:rPr sz="900">
                <a:solidFill>
                  <a:srgbClr val="64748B"/>
                </a:solidFill>
                <a:latin typeface="Arial"/>
              </a:rPr>
              <a:t>ANITS B.Tech Final Year Project Review (2025-2026)  |  Team 12</a:t>
            </a:r>
            <a:r>
              <a:rPr sz="950" b="1">
                <a:solidFill>
                  <a:srgbClr val="1A1A1A"/>
                </a:solidFill>
                <a:latin typeface="Arial"/>
              </a:rPr>
              <a:t>                                                                                                                  Page 12 of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54864"/>
          <a:lstStyle/>
          <a:p>
            <a:pPr algn="ctr"/>
            <a:r>
              <a:rPr sz="950" b="1">
                <a:solidFill>
                  <a:srgbClr val="E2E8F0"/>
                </a:solidFill>
                <a:latin typeface="Arial"/>
              </a:rPr>
              <a:t>ANIL NEERUKONDA INSTITUTE OF TECHNOLOGY &amp; SCIENCES (ANITS)  |  DEPT. OF CSD</a:t>
            </a:r>
            <a:r>
              <a:rPr sz="90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10  |  FIG. 3: SMARTPHONE ENGINE: APP ARCHITECTURE &amp; RADIOS</a:t>
            </a:r>
          </a:p>
          <a:p>
            <a:r>
              <a:rPr sz="2400" b="1">
                <a:solidFill>
                  <a:srgbClr val="1A1A1A"/>
                </a:solidFill>
                <a:latin typeface="Arial"/>
              </a:rPr>
              <a:t>WHAT HAPPENS INSIDE THE PHONE: USER SCREEN, SMART BRAIN &amp; RADIOS</a:t>
            </a:r>
          </a:p>
        </p:txBody>
      </p:sp>
      <p:sp>
        <p:nvSpPr>
          <p:cNvPr id="5" name="Rectangle 4"/>
          <p:cNvSpPr/>
          <p:nvPr/>
        </p:nvSpPr>
        <p:spPr>
          <a:xfrm>
            <a:off x="731520" y="1536192"/>
            <a:ext cx="1645920" cy="36576"/>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ram_inside_phone.png"/>
          <p:cNvPicPr>
            <a:picLocks noChangeAspect="1"/>
          </p:cNvPicPr>
          <p:nvPr/>
        </p:nvPicPr>
        <p:blipFill>
          <a:blip r:embed="rId2"/>
          <a:stretch>
            <a:fillRect/>
          </a:stretch>
        </p:blipFill>
        <p:spPr>
          <a:xfrm>
            <a:off x="731520" y="1645920"/>
            <a:ext cx="10725912" cy="4617720"/>
          </a:xfrm>
          <a:prstGeom prst="rect">
            <a:avLst/>
          </a:prstGeom>
        </p:spPr>
      </p:pic>
      <p:sp>
        <p:nvSpPr>
          <p:cNvPr id="7" name="TextBox 6"/>
          <p:cNvSpPr txBox="1"/>
          <p:nvPr/>
        </p:nvSpPr>
        <p:spPr>
          <a:xfrm>
            <a:off x="731520" y="6400800"/>
            <a:ext cx="10698480" cy="320040"/>
          </a:xfrm>
          <a:prstGeom prst="rect">
            <a:avLst/>
          </a:prstGeom>
          <a:noFill/>
        </p:spPr>
        <p:txBody>
          <a:bodyPr wrap="square" lIns="0" tIns="0">
            <a:spAutoFit/>
          </a:bodyPr>
          <a:lstStyle/>
          <a:p>
            <a:r>
              <a:rPr sz="900">
                <a:solidFill>
                  <a:srgbClr val="64748B"/>
                </a:solidFill>
                <a:latin typeface="Arial"/>
              </a:rPr>
              <a:t>ANITS B.Tech Final Year Project Review (2025-2026)  |  Team 12</a:t>
            </a:r>
            <a:r>
              <a:rPr sz="950" b="1">
                <a:solidFill>
                  <a:srgbClr val="1A1A1A"/>
                </a:solidFill>
                <a:latin typeface="Arial"/>
              </a:rPr>
              <a:t>                                                                                                                  Page 13 of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54864"/>
          <a:lstStyle/>
          <a:p>
            <a:pPr algn="ctr"/>
            <a:r>
              <a:rPr sz="950" b="1">
                <a:solidFill>
                  <a:srgbClr val="E2E8F0"/>
                </a:solidFill>
                <a:latin typeface="Arial"/>
              </a:rPr>
              <a:t>ANIL NEERUKONDA INSTITUTE OF TECHNOLOGY &amp; SCIENCES (ANITS)  |  DEPT. OF CSD</a:t>
            </a:r>
            <a:r>
              <a:rPr sz="900">
                <a:solidFill>
                  <a:srgbClr val="94A3B8"/>
                </a:solidFill>
                <a:latin typeface="Arial"/>
              </a:rPr>
              <a:t>       TEAM 12  -  DECENTRALIZED CAMPUS MESH NETWORK</a:t>
            </a:r>
          </a:p>
        </p:txBody>
      </p:sp>
      <p:sp>
        <p:nvSpPr>
          <p:cNvPr id="4" name="TextBox 3"/>
          <p:cNvSpPr txBox="1"/>
          <p:nvPr/>
        </p:nvSpPr>
        <p:spPr>
          <a:xfrm>
            <a:off x="731520" y="502920"/>
            <a:ext cx="10698480" cy="960120"/>
          </a:xfrm>
          <a:prstGeom prst="rect">
            <a:avLst/>
          </a:prstGeom>
          <a:noFill/>
        </p:spPr>
        <p:txBody>
          <a:bodyPr wrap="square" lIns="0" tIns="0">
            <a:spAutoFit/>
          </a:bodyPr>
          <a:lstStyle/>
          <a:p>
            <a:r>
              <a:rPr sz="1050" b="1">
                <a:solidFill>
                  <a:srgbClr val="D96B43"/>
                </a:solidFill>
                <a:latin typeface="Arial"/>
              </a:rPr>
              <a:t>SECTION 11  |  FIG. 4: OPERATIONAL LIFECYCLE &amp; CORE PERFORMANCE GUARANTEES</a:t>
            </a:r>
          </a:p>
          <a:p>
            <a:r>
              <a:rPr sz="2400" b="1">
                <a:solidFill>
                  <a:srgbClr val="1A1A1A"/>
                </a:solidFill>
                <a:latin typeface="Arial"/>
              </a:rPr>
              <a:t>HOW THE SYSTEM OPERATES: PRE-CRISIS PREPARATION &amp; DISASTER SURVIVABILITY</a:t>
            </a:r>
          </a:p>
        </p:txBody>
      </p:sp>
      <p:sp>
        <p:nvSpPr>
          <p:cNvPr id="5" name="Rectangle 4"/>
          <p:cNvSpPr/>
          <p:nvPr/>
        </p:nvSpPr>
        <p:spPr>
          <a:xfrm>
            <a:off x="731520" y="1536192"/>
            <a:ext cx="1645920" cy="36576"/>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ram_peacetime_vs_crisis.png"/>
          <p:cNvPicPr>
            <a:picLocks noChangeAspect="1"/>
          </p:cNvPicPr>
          <p:nvPr/>
        </p:nvPicPr>
        <p:blipFill>
          <a:blip r:embed="rId2"/>
          <a:stretch>
            <a:fillRect/>
          </a:stretch>
        </p:blipFill>
        <p:spPr>
          <a:xfrm>
            <a:off x="731520" y="1645920"/>
            <a:ext cx="10725912" cy="4617720"/>
          </a:xfrm>
          <a:prstGeom prst="rect">
            <a:avLst/>
          </a:prstGeom>
        </p:spPr>
      </p:pic>
      <p:sp>
        <p:nvSpPr>
          <p:cNvPr id="7" name="TextBox 6"/>
          <p:cNvSpPr txBox="1"/>
          <p:nvPr/>
        </p:nvSpPr>
        <p:spPr>
          <a:xfrm>
            <a:off x="731520" y="6400800"/>
            <a:ext cx="10698480" cy="320040"/>
          </a:xfrm>
          <a:prstGeom prst="rect">
            <a:avLst/>
          </a:prstGeom>
          <a:noFill/>
        </p:spPr>
        <p:txBody>
          <a:bodyPr wrap="square" lIns="0" tIns="0">
            <a:spAutoFit/>
          </a:bodyPr>
          <a:lstStyle/>
          <a:p>
            <a:r>
              <a:rPr sz="900">
                <a:solidFill>
                  <a:srgbClr val="64748B"/>
                </a:solidFill>
                <a:latin typeface="Arial"/>
              </a:rPr>
              <a:t>ANITS B.Tech Final Year Project Review (2025-2026)  |  Team 12</a:t>
            </a:r>
            <a:r>
              <a:rPr sz="950" b="1">
                <a:solidFill>
                  <a:srgbClr val="1A1A1A"/>
                </a:solidFill>
                <a:latin typeface="Arial"/>
              </a:rPr>
              <a:t>                                                                                                                  Page 14 of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59</TotalTime>
  <Words>2460</Words>
  <Application>Microsoft Office PowerPoint</Application>
  <PresentationFormat>Widescreen</PresentationFormat>
  <Paragraphs>142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Hemanth P</cp:lastModifiedBy>
  <cp:revision>12</cp:revision>
  <dcterms:created xsi:type="dcterms:W3CDTF">2013-01-27T09:14:16Z</dcterms:created>
  <dcterms:modified xsi:type="dcterms:W3CDTF">2026-09-09T03:46:01Z</dcterms:modified>
  <cp:category/>
</cp:coreProperties>
</file>